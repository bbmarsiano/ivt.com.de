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9"/>
  </p:notesMasterIdLst>
  <p:handoutMasterIdLst>
    <p:handoutMasterId r:id="rId50"/>
  </p:handoutMasterIdLst>
  <p:sldIdLst>
    <p:sldId id="257" r:id="rId2"/>
    <p:sldId id="372" r:id="rId3"/>
    <p:sldId id="385" r:id="rId4"/>
    <p:sldId id="386" r:id="rId5"/>
    <p:sldId id="387" r:id="rId6"/>
    <p:sldId id="388" r:id="rId7"/>
    <p:sldId id="401" r:id="rId8"/>
    <p:sldId id="400" r:id="rId9"/>
    <p:sldId id="399" r:id="rId10"/>
    <p:sldId id="347" r:id="rId11"/>
    <p:sldId id="381" r:id="rId12"/>
    <p:sldId id="413" r:id="rId13"/>
    <p:sldId id="411" r:id="rId14"/>
    <p:sldId id="335" r:id="rId15"/>
    <p:sldId id="378" r:id="rId16"/>
    <p:sldId id="379" r:id="rId17"/>
    <p:sldId id="367" r:id="rId18"/>
    <p:sldId id="414" r:id="rId19"/>
    <p:sldId id="339" r:id="rId20"/>
    <p:sldId id="409" r:id="rId21"/>
    <p:sldId id="410" r:id="rId22"/>
    <p:sldId id="373" r:id="rId23"/>
    <p:sldId id="340" r:id="rId24"/>
    <p:sldId id="342" r:id="rId25"/>
    <p:sldId id="374" r:id="rId26"/>
    <p:sldId id="377" r:id="rId27"/>
    <p:sldId id="375" r:id="rId28"/>
    <p:sldId id="376" r:id="rId29"/>
    <p:sldId id="408" r:id="rId30"/>
    <p:sldId id="348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350" r:id="rId41"/>
    <p:sldId id="424" r:id="rId42"/>
    <p:sldId id="425" r:id="rId43"/>
    <p:sldId id="426" r:id="rId44"/>
    <p:sldId id="427" r:id="rId45"/>
    <p:sldId id="428" r:id="rId46"/>
    <p:sldId id="429" r:id="rId47"/>
    <p:sldId id="358" r:id="rId48"/>
  </p:sldIdLst>
  <p:sldSz cx="9144000" cy="6858000" type="screen4x3"/>
  <p:notesSz cx="7099300" cy="10234613"/>
  <p:defaultTextStyle>
    <a:defPPr>
      <a:defRPr lang="bg-BG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59F"/>
    <a:srgbClr val="FFEBAB"/>
    <a:srgbClr val="FF89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93" autoAdjust="0"/>
    <p:restoredTop sz="82765" autoAdjust="0"/>
  </p:normalViewPr>
  <p:slideViewPr>
    <p:cSldViewPr>
      <p:cViewPr>
        <p:scale>
          <a:sx n="89" d="100"/>
          <a:sy n="89" d="100"/>
        </p:scale>
        <p:origin x="744" y="-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230"/>
    </p:cViewPr>
  </p:sorterViewPr>
  <p:notesViewPr>
    <p:cSldViewPr>
      <p:cViewPr varScale="1">
        <p:scale>
          <a:sx n="45" d="100"/>
          <a:sy n="45" d="100"/>
        </p:scale>
        <p:origin x="-1962" y="-11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B578F5-0967-42C7-BF3E-221757EDA6F4}" type="doc">
      <dgm:prSet loTypeId="urn:microsoft.com/office/officeart/2005/8/layout/cycle3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bg-BG"/>
        </a:p>
      </dgm:t>
    </dgm:pt>
    <dgm:pt modelId="{FFE5AEF3-4974-4AFC-9929-51DA8B470CEA}">
      <dgm:prSet phldrT="[Text]"/>
      <dgm:spPr>
        <a:xfrm>
          <a:off x="2905178" y="2371"/>
          <a:ext cx="1822491" cy="911245"/>
        </a:xfrm>
        <a:prstGeom prst="roundRect">
          <a:avLst/>
        </a:prstGeom>
        <a:solidFill>
          <a:srgbClr val="4F81BD">
            <a:lumMod val="75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1. Подготовка за изпълнение на дейностите по описание и анализ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29CC6CC0-A0C2-49BE-B398-6AA480B2BDBE}" type="parTrans" cxnId="{6B3B5CE7-864F-4C7A-9AC0-DA439659FD5D}">
      <dgm:prSet/>
      <dgm:spPr/>
      <dgm:t>
        <a:bodyPr/>
        <a:lstStyle/>
        <a:p>
          <a:endParaRPr lang="bg-BG"/>
        </a:p>
      </dgm:t>
    </dgm:pt>
    <dgm:pt modelId="{23FD9EDC-F5E4-4B65-A6DC-5B9241A0CE5F}" type="sibTrans" cxnId="{6B3B5CE7-864F-4C7A-9AC0-DA439659FD5D}">
      <dgm:prSet/>
      <dgm:spPr>
        <a:xfrm>
          <a:off x="1407781" y="-3638"/>
          <a:ext cx="4817285" cy="4817285"/>
        </a:xfrm>
        <a:prstGeom prst="circularArrow">
          <a:avLst>
            <a:gd name="adj1" fmla="val 5274"/>
            <a:gd name="adj2" fmla="val 312630"/>
            <a:gd name="adj3" fmla="val 14236805"/>
            <a:gd name="adj4" fmla="val 17121945"/>
            <a:gd name="adj5" fmla="val 5477"/>
          </a:avLst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endParaRPr lang="bg-BG"/>
        </a:p>
      </dgm:t>
    </dgm:pt>
    <dgm:pt modelId="{FBD72C4E-F0AC-4A38-8677-4AD23ED24D57}">
      <dgm:prSet phldrT="[Text]"/>
      <dgm:spPr>
        <a:xfrm>
          <a:off x="4597629" y="979508"/>
          <a:ext cx="1822491" cy="911245"/>
        </a:xfrm>
        <a:prstGeom prst="roundRec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9BBB59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2. Анализ на потребностите на администрацията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B48CE689-9E50-4FC6-8288-8DD20A32E52D}" type="parTrans" cxnId="{ED0335FD-16A4-48C3-A2A2-BE93D4B19734}">
      <dgm:prSet/>
      <dgm:spPr/>
      <dgm:t>
        <a:bodyPr/>
        <a:lstStyle/>
        <a:p>
          <a:endParaRPr lang="bg-BG"/>
        </a:p>
      </dgm:t>
    </dgm:pt>
    <dgm:pt modelId="{1217DF3F-5FA1-486E-9FAB-2E4F8F91E242}" type="sibTrans" cxnId="{ED0335FD-16A4-48C3-A2A2-BE93D4B19734}">
      <dgm:prSet/>
      <dgm:spPr/>
      <dgm:t>
        <a:bodyPr/>
        <a:lstStyle/>
        <a:p>
          <a:endParaRPr lang="bg-BG"/>
        </a:p>
      </dgm:t>
    </dgm:pt>
    <dgm:pt modelId="{4FA00CC8-492C-4DA2-94C6-9D4F24C2A6AD}">
      <dgm:prSet phldrT="[Text]"/>
      <dgm:spPr>
        <a:xfrm>
          <a:off x="4597629" y="2933782"/>
          <a:ext cx="1822491" cy="911245"/>
        </a:xfrm>
        <a:prstGeom prst="roundRect">
          <a:avLst/>
        </a:prstGeom>
        <a:gradFill rotWithShape="0">
          <a:gsLst>
            <a:gs pos="0">
              <a:srgbClr val="8064A2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8064A2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8064A2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3. Описание на работните процеси в текущо състояние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06F96E9F-84C7-4EAF-982E-A9ECD9989C77}" type="parTrans" cxnId="{6102D444-5A5F-4B4D-B87E-CE3E744DC750}">
      <dgm:prSet/>
      <dgm:spPr/>
      <dgm:t>
        <a:bodyPr/>
        <a:lstStyle/>
        <a:p>
          <a:endParaRPr lang="bg-BG"/>
        </a:p>
      </dgm:t>
    </dgm:pt>
    <dgm:pt modelId="{003330BA-C6C4-45DF-9E63-6523256C6B93}" type="sibTrans" cxnId="{6102D444-5A5F-4B4D-B87E-CE3E744DC750}">
      <dgm:prSet/>
      <dgm:spPr/>
      <dgm:t>
        <a:bodyPr/>
        <a:lstStyle/>
        <a:p>
          <a:endParaRPr lang="bg-BG"/>
        </a:p>
      </dgm:t>
    </dgm:pt>
    <dgm:pt modelId="{A5698F52-E96C-433B-9595-9A2D991F389D}">
      <dgm:prSet phldrT="[Text]"/>
      <dgm:spPr>
        <a:xfrm>
          <a:off x="2905178" y="3910919"/>
          <a:ext cx="1822491" cy="911245"/>
        </a:xfrm>
        <a:prstGeom prst="roundRect">
          <a:avLst/>
        </a:prstGeom>
        <a:gradFill rotWithShape="0">
          <a:gsLst>
            <a:gs pos="0">
              <a:srgbClr val="4BACC6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BACC6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BACC6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4. Анализ и подобряване на работните процеси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169EFE4E-784D-4C7D-BFE7-89EF6870192C}" type="parTrans" cxnId="{D7C6993D-1C03-45B4-8CD2-524D9661C02B}">
      <dgm:prSet/>
      <dgm:spPr/>
      <dgm:t>
        <a:bodyPr/>
        <a:lstStyle/>
        <a:p>
          <a:endParaRPr lang="bg-BG"/>
        </a:p>
      </dgm:t>
    </dgm:pt>
    <dgm:pt modelId="{0AF38604-82C2-4184-BF08-81E2F72D4BCC}" type="sibTrans" cxnId="{D7C6993D-1C03-45B4-8CD2-524D9661C02B}">
      <dgm:prSet/>
      <dgm:spPr/>
      <dgm:t>
        <a:bodyPr/>
        <a:lstStyle/>
        <a:p>
          <a:endParaRPr lang="bg-BG"/>
        </a:p>
      </dgm:t>
    </dgm:pt>
    <dgm:pt modelId="{5393C7C0-1BB5-44DD-BE2D-FD667D600C7D}">
      <dgm:prSet phldrT="[Text]"/>
      <dgm:spPr>
        <a:xfrm>
          <a:off x="1212727" y="2933782"/>
          <a:ext cx="1822491" cy="911245"/>
        </a:xfrm>
        <a:prstGeom prst="roundRect">
          <a:avLst/>
        </a:prstGeom>
        <a:gradFill rotWithShape="0">
          <a:gsLst>
            <a:gs pos="0">
              <a:srgbClr val="F79646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79646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79646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5. Проектиране на процесите в бъдещо състояние и внедряване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5F4011BE-3A56-4C5F-9C32-8BA721FB70BE}" type="parTrans" cxnId="{7078F77E-A46D-471B-BF0D-7A66611472C9}">
      <dgm:prSet/>
      <dgm:spPr/>
      <dgm:t>
        <a:bodyPr/>
        <a:lstStyle/>
        <a:p>
          <a:endParaRPr lang="bg-BG"/>
        </a:p>
      </dgm:t>
    </dgm:pt>
    <dgm:pt modelId="{C4BC5A7B-E61A-440F-8EB7-6E7BD9343774}" type="sibTrans" cxnId="{7078F77E-A46D-471B-BF0D-7A66611472C9}">
      <dgm:prSet/>
      <dgm:spPr/>
      <dgm:t>
        <a:bodyPr/>
        <a:lstStyle/>
        <a:p>
          <a:endParaRPr lang="bg-BG"/>
        </a:p>
      </dgm:t>
    </dgm:pt>
    <dgm:pt modelId="{70771B6B-C12B-49EF-9967-ACEDF08A4F26}">
      <dgm:prSet phldrT="[Text]"/>
      <dgm:spPr>
        <a:xfrm>
          <a:off x="1212727" y="979508"/>
          <a:ext cx="1822491" cy="911245"/>
        </a:xfrm>
        <a:prstGeom prst="roundRect">
          <a:avLst/>
        </a:prstGeom>
        <a:gradFill rotWithShape="0">
          <a:gsLst>
            <a:gs pos="0">
              <a:srgbClr val="C0504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C0504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C0504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bg-BG" b="1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6. Мониторинг и контрол на работните процеси</a:t>
          </a:r>
          <a:endParaRPr lang="bg-BG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8B8EF62D-F9CB-4624-A9E9-C6397A2807B7}" type="parTrans" cxnId="{67409BF8-B325-477A-993D-C32CE159FA5F}">
      <dgm:prSet/>
      <dgm:spPr/>
      <dgm:t>
        <a:bodyPr/>
        <a:lstStyle/>
        <a:p>
          <a:endParaRPr lang="bg-BG"/>
        </a:p>
      </dgm:t>
    </dgm:pt>
    <dgm:pt modelId="{21623B84-C777-4E2C-A255-F80ECDA5C403}" type="sibTrans" cxnId="{67409BF8-B325-477A-993D-C32CE159FA5F}">
      <dgm:prSet/>
      <dgm:spPr/>
      <dgm:t>
        <a:bodyPr/>
        <a:lstStyle/>
        <a:p>
          <a:endParaRPr lang="bg-BG"/>
        </a:p>
      </dgm:t>
    </dgm:pt>
    <dgm:pt modelId="{E778D804-B065-47A8-AACF-BF1B17B5500D}" type="pres">
      <dgm:prSet presAssocID="{54B578F5-0967-42C7-BF3E-221757EDA6F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bg-BG"/>
        </a:p>
      </dgm:t>
    </dgm:pt>
    <dgm:pt modelId="{FC639A42-CE92-4FCF-9ABF-0746879C41D2}" type="pres">
      <dgm:prSet presAssocID="{54B578F5-0967-42C7-BF3E-221757EDA6F4}" presName="cycle" presStyleCnt="0"/>
      <dgm:spPr/>
    </dgm:pt>
    <dgm:pt modelId="{D8115B07-E9CE-4DED-A4DF-03EFA5DD3804}" type="pres">
      <dgm:prSet presAssocID="{FFE5AEF3-4974-4AFC-9929-51DA8B470CEA}" presName="nodeFirs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  <dgm:pt modelId="{83732F63-621A-49AB-AF56-7E11BA5424A0}" type="pres">
      <dgm:prSet presAssocID="{23FD9EDC-F5E4-4B65-A6DC-5B9241A0CE5F}" presName="sibTransFirstNode" presStyleLbl="bgShp" presStyleIdx="0" presStyleCnt="1"/>
      <dgm:spPr/>
      <dgm:t>
        <a:bodyPr/>
        <a:lstStyle/>
        <a:p>
          <a:endParaRPr lang="bg-BG"/>
        </a:p>
      </dgm:t>
    </dgm:pt>
    <dgm:pt modelId="{88762F75-9107-4452-8779-D6C7D4DC8A16}" type="pres">
      <dgm:prSet presAssocID="{FBD72C4E-F0AC-4A38-8677-4AD23ED24D57}" presName="nodeFollowingNodes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  <dgm:pt modelId="{C1A6A9A7-FC37-43FF-AEFF-8CBDBD668D9E}" type="pres">
      <dgm:prSet presAssocID="{4FA00CC8-492C-4DA2-94C6-9D4F24C2A6AD}" presName="nodeFollowingNodes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  <dgm:pt modelId="{1E9FDEB5-677C-4D1D-8C82-1154283C6A51}" type="pres">
      <dgm:prSet presAssocID="{A5698F52-E96C-433B-9595-9A2D991F389D}" presName="nodeFollowingNodes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  <dgm:pt modelId="{9614011B-1D6C-470D-88B4-6AD1748BE390}" type="pres">
      <dgm:prSet presAssocID="{5393C7C0-1BB5-44DD-BE2D-FD667D600C7D}" presName="nodeFollowingNodes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  <dgm:pt modelId="{6A09D8FD-E67C-4CD2-A3F7-800E991D2314}" type="pres">
      <dgm:prSet presAssocID="{70771B6B-C12B-49EF-9967-ACEDF08A4F26}" presName="nodeFollowingNodes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bg-BG"/>
        </a:p>
      </dgm:t>
    </dgm:pt>
  </dgm:ptLst>
  <dgm:cxnLst>
    <dgm:cxn modelId="{655BCACF-F62F-4979-8F35-26A3939CBA1C}" type="presOf" srcId="{4FA00CC8-492C-4DA2-94C6-9D4F24C2A6AD}" destId="{C1A6A9A7-FC37-43FF-AEFF-8CBDBD668D9E}" srcOrd="0" destOrd="0" presId="urn:microsoft.com/office/officeart/2005/8/layout/cycle3"/>
    <dgm:cxn modelId="{79BE49EF-3FF9-4BCB-8474-DB5A17CC0BC1}" type="presOf" srcId="{FFE5AEF3-4974-4AFC-9929-51DA8B470CEA}" destId="{D8115B07-E9CE-4DED-A4DF-03EFA5DD3804}" srcOrd="0" destOrd="0" presId="urn:microsoft.com/office/officeart/2005/8/layout/cycle3"/>
    <dgm:cxn modelId="{67409BF8-B325-477A-993D-C32CE159FA5F}" srcId="{54B578F5-0967-42C7-BF3E-221757EDA6F4}" destId="{70771B6B-C12B-49EF-9967-ACEDF08A4F26}" srcOrd="5" destOrd="0" parTransId="{8B8EF62D-F9CB-4624-A9E9-C6397A2807B7}" sibTransId="{21623B84-C777-4E2C-A255-F80ECDA5C403}"/>
    <dgm:cxn modelId="{F0A21D37-7F35-4C34-A216-3938AB6C495D}" type="presOf" srcId="{70771B6B-C12B-49EF-9967-ACEDF08A4F26}" destId="{6A09D8FD-E67C-4CD2-A3F7-800E991D2314}" srcOrd="0" destOrd="0" presId="urn:microsoft.com/office/officeart/2005/8/layout/cycle3"/>
    <dgm:cxn modelId="{CE421EAC-3C07-4206-BED4-E5AF9EDD3079}" type="presOf" srcId="{23FD9EDC-F5E4-4B65-A6DC-5B9241A0CE5F}" destId="{83732F63-621A-49AB-AF56-7E11BA5424A0}" srcOrd="0" destOrd="0" presId="urn:microsoft.com/office/officeart/2005/8/layout/cycle3"/>
    <dgm:cxn modelId="{289AAE4A-145E-42C0-95E6-0E359B4A00F7}" type="presOf" srcId="{FBD72C4E-F0AC-4A38-8677-4AD23ED24D57}" destId="{88762F75-9107-4452-8779-D6C7D4DC8A16}" srcOrd="0" destOrd="0" presId="urn:microsoft.com/office/officeart/2005/8/layout/cycle3"/>
    <dgm:cxn modelId="{8F1049B0-1150-44D4-8FF3-57B7E3A42427}" type="presOf" srcId="{54B578F5-0967-42C7-BF3E-221757EDA6F4}" destId="{E778D804-B065-47A8-AACF-BF1B17B5500D}" srcOrd="0" destOrd="0" presId="urn:microsoft.com/office/officeart/2005/8/layout/cycle3"/>
    <dgm:cxn modelId="{ED0335FD-16A4-48C3-A2A2-BE93D4B19734}" srcId="{54B578F5-0967-42C7-BF3E-221757EDA6F4}" destId="{FBD72C4E-F0AC-4A38-8677-4AD23ED24D57}" srcOrd="1" destOrd="0" parTransId="{B48CE689-9E50-4FC6-8288-8DD20A32E52D}" sibTransId="{1217DF3F-5FA1-486E-9FAB-2E4F8F91E242}"/>
    <dgm:cxn modelId="{6B3B5CE7-864F-4C7A-9AC0-DA439659FD5D}" srcId="{54B578F5-0967-42C7-BF3E-221757EDA6F4}" destId="{FFE5AEF3-4974-4AFC-9929-51DA8B470CEA}" srcOrd="0" destOrd="0" parTransId="{29CC6CC0-A0C2-49BE-B398-6AA480B2BDBE}" sibTransId="{23FD9EDC-F5E4-4B65-A6DC-5B9241A0CE5F}"/>
    <dgm:cxn modelId="{DCEF5DCB-6C59-4B4C-93F0-CD55E931069D}" type="presOf" srcId="{A5698F52-E96C-433B-9595-9A2D991F389D}" destId="{1E9FDEB5-677C-4D1D-8C82-1154283C6A51}" srcOrd="0" destOrd="0" presId="urn:microsoft.com/office/officeart/2005/8/layout/cycle3"/>
    <dgm:cxn modelId="{D7C6993D-1C03-45B4-8CD2-524D9661C02B}" srcId="{54B578F5-0967-42C7-BF3E-221757EDA6F4}" destId="{A5698F52-E96C-433B-9595-9A2D991F389D}" srcOrd="3" destOrd="0" parTransId="{169EFE4E-784D-4C7D-BFE7-89EF6870192C}" sibTransId="{0AF38604-82C2-4184-BF08-81E2F72D4BCC}"/>
    <dgm:cxn modelId="{7078F77E-A46D-471B-BF0D-7A66611472C9}" srcId="{54B578F5-0967-42C7-BF3E-221757EDA6F4}" destId="{5393C7C0-1BB5-44DD-BE2D-FD667D600C7D}" srcOrd="4" destOrd="0" parTransId="{5F4011BE-3A56-4C5F-9C32-8BA721FB70BE}" sibTransId="{C4BC5A7B-E61A-440F-8EB7-6E7BD9343774}"/>
    <dgm:cxn modelId="{6102D444-5A5F-4B4D-B87E-CE3E744DC750}" srcId="{54B578F5-0967-42C7-BF3E-221757EDA6F4}" destId="{4FA00CC8-492C-4DA2-94C6-9D4F24C2A6AD}" srcOrd="2" destOrd="0" parTransId="{06F96E9F-84C7-4EAF-982E-A9ECD9989C77}" sibTransId="{003330BA-C6C4-45DF-9E63-6523256C6B93}"/>
    <dgm:cxn modelId="{6C3AFAE0-D94D-452C-AC35-BB93A03ED7AA}" type="presOf" srcId="{5393C7C0-1BB5-44DD-BE2D-FD667D600C7D}" destId="{9614011B-1D6C-470D-88B4-6AD1748BE390}" srcOrd="0" destOrd="0" presId="urn:microsoft.com/office/officeart/2005/8/layout/cycle3"/>
    <dgm:cxn modelId="{0C9BBDD7-6E23-4527-A702-C65CAD3EAC2D}" type="presParOf" srcId="{E778D804-B065-47A8-AACF-BF1B17B5500D}" destId="{FC639A42-CE92-4FCF-9ABF-0746879C41D2}" srcOrd="0" destOrd="0" presId="urn:microsoft.com/office/officeart/2005/8/layout/cycle3"/>
    <dgm:cxn modelId="{30E2F763-40BE-419D-A97E-A08E16340998}" type="presParOf" srcId="{FC639A42-CE92-4FCF-9ABF-0746879C41D2}" destId="{D8115B07-E9CE-4DED-A4DF-03EFA5DD3804}" srcOrd="0" destOrd="0" presId="urn:microsoft.com/office/officeart/2005/8/layout/cycle3"/>
    <dgm:cxn modelId="{1289EBE4-5817-4303-BC5C-29C34AE857B0}" type="presParOf" srcId="{FC639A42-CE92-4FCF-9ABF-0746879C41D2}" destId="{83732F63-621A-49AB-AF56-7E11BA5424A0}" srcOrd="1" destOrd="0" presId="urn:microsoft.com/office/officeart/2005/8/layout/cycle3"/>
    <dgm:cxn modelId="{227C8738-45A0-48A6-9961-3AB0C14BD9A0}" type="presParOf" srcId="{FC639A42-CE92-4FCF-9ABF-0746879C41D2}" destId="{88762F75-9107-4452-8779-D6C7D4DC8A16}" srcOrd="2" destOrd="0" presId="urn:microsoft.com/office/officeart/2005/8/layout/cycle3"/>
    <dgm:cxn modelId="{25C5CC3A-C48B-41D4-9640-E65780F8B844}" type="presParOf" srcId="{FC639A42-CE92-4FCF-9ABF-0746879C41D2}" destId="{C1A6A9A7-FC37-43FF-AEFF-8CBDBD668D9E}" srcOrd="3" destOrd="0" presId="urn:microsoft.com/office/officeart/2005/8/layout/cycle3"/>
    <dgm:cxn modelId="{3AD87C00-0BB8-4CAB-9280-01F0DE955BBE}" type="presParOf" srcId="{FC639A42-CE92-4FCF-9ABF-0746879C41D2}" destId="{1E9FDEB5-677C-4D1D-8C82-1154283C6A51}" srcOrd="4" destOrd="0" presId="urn:microsoft.com/office/officeart/2005/8/layout/cycle3"/>
    <dgm:cxn modelId="{0AD5D108-F947-4027-B1FE-27A41391FAD9}" type="presParOf" srcId="{FC639A42-CE92-4FCF-9ABF-0746879C41D2}" destId="{9614011B-1D6C-470D-88B4-6AD1748BE390}" srcOrd="5" destOrd="0" presId="urn:microsoft.com/office/officeart/2005/8/layout/cycle3"/>
    <dgm:cxn modelId="{69C97DDE-56AE-4A8B-AB26-D7780D1DAB32}" type="presParOf" srcId="{FC639A42-CE92-4FCF-9ABF-0746879C41D2}" destId="{6A09D8FD-E67C-4CD2-A3F7-800E991D2314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32F63-621A-49AB-AF56-7E11BA5424A0}">
      <dsp:nvSpPr>
        <dsp:cNvPr id="0" name=""/>
        <dsp:cNvSpPr/>
      </dsp:nvSpPr>
      <dsp:spPr>
        <a:xfrm>
          <a:off x="1407781" y="-3638"/>
          <a:ext cx="4817285" cy="4817285"/>
        </a:xfrm>
        <a:prstGeom prst="circularArrow">
          <a:avLst>
            <a:gd name="adj1" fmla="val 5274"/>
            <a:gd name="adj2" fmla="val 312630"/>
            <a:gd name="adj3" fmla="val 14236805"/>
            <a:gd name="adj4" fmla="val 17121945"/>
            <a:gd name="adj5" fmla="val 5477"/>
          </a:avLst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115B07-E9CE-4DED-A4DF-03EFA5DD3804}">
      <dsp:nvSpPr>
        <dsp:cNvPr id="0" name=""/>
        <dsp:cNvSpPr/>
      </dsp:nvSpPr>
      <dsp:spPr>
        <a:xfrm>
          <a:off x="2905178" y="2371"/>
          <a:ext cx="1822491" cy="911245"/>
        </a:xfrm>
        <a:prstGeom prst="roundRect">
          <a:avLst/>
        </a:prstGeom>
        <a:solidFill>
          <a:srgbClr val="4F81BD">
            <a:lumMod val="7500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1. Подготовка за изпълнение на дейностите по описание и анализ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2949661" y="46854"/>
        <a:ext cx="1733525" cy="822279"/>
      </dsp:txXfrm>
    </dsp:sp>
    <dsp:sp modelId="{88762F75-9107-4452-8779-D6C7D4DC8A16}">
      <dsp:nvSpPr>
        <dsp:cNvPr id="0" name=""/>
        <dsp:cNvSpPr/>
      </dsp:nvSpPr>
      <dsp:spPr>
        <a:xfrm>
          <a:off x="4597629" y="979508"/>
          <a:ext cx="1822491" cy="911245"/>
        </a:xfrm>
        <a:prstGeom prst="roundRect">
          <a:avLst/>
        </a:prstGeom>
        <a:gradFill rotWithShape="0">
          <a:gsLst>
            <a:gs pos="0">
              <a:srgbClr val="9BBB59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9BBB59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9BBB59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2. Анализ на потребностите на администрацията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642112" y="1023991"/>
        <a:ext cx="1733525" cy="822279"/>
      </dsp:txXfrm>
    </dsp:sp>
    <dsp:sp modelId="{C1A6A9A7-FC37-43FF-AEFF-8CBDBD668D9E}">
      <dsp:nvSpPr>
        <dsp:cNvPr id="0" name=""/>
        <dsp:cNvSpPr/>
      </dsp:nvSpPr>
      <dsp:spPr>
        <a:xfrm>
          <a:off x="4597629" y="2933782"/>
          <a:ext cx="1822491" cy="911245"/>
        </a:xfrm>
        <a:prstGeom prst="roundRect">
          <a:avLst/>
        </a:prstGeom>
        <a:gradFill rotWithShape="0">
          <a:gsLst>
            <a:gs pos="0">
              <a:srgbClr val="8064A2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8064A2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8064A2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3. Описание на работните процеси в текущо състояние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642112" y="2978265"/>
        <a:ext cx="1733525" cy="822279"/>
      </dsp:txXfrm>
    </dsp:sp>
    <dsp:sp modelId="{1E9FDEB5-677C-4D1D-8C82-1154283C6A51}">
      <dsp:nvSpPr>
        <dsp:cNvPr id="0" name=""/>
        <dsp:cNvSpPr/>
      </dsp:nvSpPr>
      <dsp:spPr>
        <a:xfrm>
          <a:off x="2905178" y="3910919"/>
          <a:ext cx="1822491" cy="911245"/>
        </a:xfrm>
        <a:prstGeom prst="roundRect">
          <a:avLst/>
        </a:prstGeom>
        <a:gradFill rotWithShape="0">
          <a:gsLst>
            <a:gs pos="0">
              <a:srgbClr val="4BACC6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BACC6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BACC6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4. Анализ и подобряване на работните процеси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2949661" y="3955402"/>
        <a:ext cx="1733525" cy="822279"/>
      </dsp:txXfrm>
    </dsp:sp>
    <dsp:sp modelId="{9614011B-1D6C-470D-88B4-6AD1748BE390}">
      <dsp:nvSpPr>
        <dsp:cNvPr id="0" name=""/>
        <dsp:cNvSpPr/>
      </dsp:nvSpPr>
      <dsp:spPr>
        <a:xfrm>
          <a:off x="1212727" y="2933782"/>
          <a:ext cx="1822491" cy="911245"/>
        </a:xfrm>
        <a:prstGeom prst="roundRect">
          <a:avLst/>
        </a:prstGeom>
        <a:gradFill rotWithShape="0">
          <a:gsLst>
            <a:gs pos="0">
              <a:srgbClr val="F79646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79646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79646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5. Проектиране на процесите в бъдещо състояние и внедряване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1257210" y="2978265"/>
        <a:ext cx="1733525" cy="822279"/>
      </dsp:txXfrm>
    </dsp:sp>
    <dsp:sp modelId="{6A09D8FD-E67C-4CD2-A3F7-800E991D2314}">
      <dsp:nvSpPr>
        <dsp:cNvPr id="0" name=""/>
        <dsp:cNvSpPr/>
      </dsp:nvSpPr>
      <dsp:spPr>
        <a:xfrm>
          <a:off x="1212727" y="979508"/>
          <a:ext cx="1822491" cy="911245"/>
        </a:xfrm>
        <a:prstGeom prst="roundRect">
          <a:avLst/>
        </a:prstGeom>
        <a:gradFill rotWithShape="0">
          <a:gsLst>
            <a:gs pos="0">
              <a:srgbClr val="C0504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C0504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C0504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300" b="1" kern="1200" dirty="0" smtClean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6. Мониторинг и контрол на работните процеси</a:t>
          </a:r>
          <a:endParaRPr lang="bg-BG" sz="130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1257210" y="1023991"/>
        <a:ext cx="1733525" cy="822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endParaRPr lang="bg-BG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bg-BG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85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endParaRPr lang="bg-BG"/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839A506-23FF-4C6C-BCAF-91E3D34B5F70}" type="slidenum">
              <a:rPr lang="bg-BG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9005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endParaRPr lang="bg-BG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bg-BG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0924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noProof="0" smtClean="0"/>
              <a:t>Click to edit Master text styles</a:t>
            </a:r>
          </a:p>
          <a:p>
            <a:pPr lvl="1"/>
            <a:r>
              <a:rPr lang="bg-BG" noProof="0" smtClean="0"/>
              <a:t>Second level</a:t>
            </a:r>
          </a:p>
          <a:p>
            <a:pPr lvl="2"/>
            <a:r>
              <a:rPr lang="bg-BG" noProof="0" smtClean="0"/>
              <a:t>Third level</a:t>
            </a:r>
          </a:p>
          <a:p>
            <a:pPr lvl="3"/>
            <a:r>
              <a:rPr lang="bg-BG" noProof="0" smtClean="0"/>
              <a:t>Fourth level</a:t>
            </a:r>
          </a:p>
          <a:p>
            <a:pPr lvl="4"/>
            <a:r>
              <a:rPr lang="bg-BG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85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endParaRPr lang="bg-BG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185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40F397B2-BA3B-45AC-8174-E807F90F3328}" type="slidenum">
              <a:rPr lang="bg-BG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70982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E515ABE-E6FA-4843-955E-E64345653A83}" type="slidenum">
              <a:rPr lang="bg-BG"/>
              <a:pPr eaLnBrk="1" hangingPunct="1"/>
              <a:t>1</a:t>
            </a:fld>
            <a:endParaRPr lang="bg-BG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88549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0BABDD-55FA-458B-9880-27A6BF301627}" type="slidenum">
              <a:rPr lang="bg-BG" smtClean="0"/>
              <a:pPr eaLnBrk="1" hangingPunct="1"/>
              <a:t>7</a:t>
            </a:fld>
            <a:endParaRPr lang="bg-BG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C1795E-5618-4FDC-A95A-9FF774459409}" type="slidenum">
              <a:rPr lang="bg-BG" smtClean="0"/>
              <a:pPr eaLnBrk="1" hangingPunct="1"/>
              <a:t>8</a:t>
            </a:fld>
            <a:endParaRPr lang="bg-BG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7480DF-127D-4AED-8780-47EC6004DC33}" type="slidenum">
              <a:rPr lang="bg-BG" smtClean="0"/>
              <a:pPr eaLnBrk="1" hangingPunct="1"/>
              <a:t>9</a:t>
            </a:fld>
            <a:endParaRPr lang="bg-BG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7480DF-127D-4AED-8780-47EC6004DC33}" type="slidenum">
              <a:rPr lang="bg-BG" smtClean="0"/>
              <a:pPr eaLnBrk="1" hangingPunct="1"/>
              <a:t>10</a:t>
            </a:fld>
            <a:endParaRPr lang="bg-BG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C70F7C-02A0-413D-8D57-4657E5C343F3}" type="slidenum">
              <a:rPr lang="bg-BG" smtClean="0"/>
              <a:pPr eaLnBrk="1" hangingPunct="1"/>
              <a:t>14</a:t>
            </a:fld>
            <a:endParaRPr lang="bg-BG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600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15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06346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Потребностите могат да бъдат идентифицирани по различни начини:</a:t>
            </a:r>
          </a:p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Отгоре-надолу – произтичат от ръководството на администрацията и са свързани с изпълнение на стратегически цели;</a:t>
            </a:r>
          </a:p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Отдолу-нагоре – произтичат от оперативните процеси, софтуерни системи или служители, които взаимодействат с клиенти;</a:t>
            </a:r>
          </a:p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От средното ниво на управление – отнасят се до потребности на ръководители от средно ниво във връзка с изпълнението на цели и задачи;</a:t>
            </a:r>
          </a:p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От външната среда – отнасят се до настъпили изменения в законодателството, инициативи или изисквания от други администрации.</a:t>
            </a:r>
          </a:p>
          <a:p>
            <a:pPr lvl="0" fontAlgn="base" hangingPunct="0"/>
            <a:endParaRPr lang="bg-BG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16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7431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17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9300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18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3547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17FB0-6A15-487D-B38F-3D9872B2306A}" type="slidenum">
              <a:rPr lang="bg-BG" smtClean="0"/>
              <a:pPr eaLnBrk="1" hangingPunct="1"/>
              <a:t>19</a:t>
            </a:fld>
            <a:endParaRPr lang="bg-BG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17FB0-6A15-487D-B38F-3D9872B2306A}" type="slidenum">
              <a:rPr lang="bg-BG" smtClean="0"/>
              <a:pPr eaLnBrk="1" hangingPunct="1"/>
              <a:t>22</a:t>
            </a:fld>
            <a:endParaRPr lang="bg-BG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единна, предварително съгласувана методология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7D5C8A-54CA-421F-A84D-6CDC1A417F89}" type="slidenum">
              <a:rPr lang="bg-BG" smtClean="0"/>
              <a:pPr eaLnBrk="1" hangingPunct="1"/>
              <a:t>23</a:t>
            </a:fld>
            <a:endParaRPr lang="bg-BG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D7E414B-1864-461B-B572-3983486CBB65}" type="slidenum">
              <a:rPr lang="bg-BG" smtClean="0"/>
              <a:pPr eaLnBrk="1" hangingPunct="1"/>
              <a:t>24</a:t>
            </a:fld>
            <a:endParaRPr lang="bg-BG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6288"/>
            <a:ext cx="5099050" cy="3824287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85" y="4859518"/>
            <a:ext cx="5205932" cy="460745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bg-BG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6288"/>
            <a:ext cx="5099050" cy="3824287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85" y="4859518"/>
            <a:ext cx="5205932" cy="460745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bg-BG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6288"/>
            <a:ext cx="5099050" cy="3824287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85" y="4859518"/>
            <a:ext cx="5205932" cy="460745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bg-BG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76288"/>
            <a:ext cx="5099050" cy="3824287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85" y="4859518"/>
            <a:ext cx="5205932" cy="460745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bg-BG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30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7644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26E9AB-16B2-47C0-BDA3-2ACC6EC55742}" type="slidenum">
              <a:rPr lang="bg-BG"/>
              <a:pPr eaLnBrk="1" hangingPunct="1"/>
              <a:t>31</a:t>
            </a:fld>
            <a:endParaRPr lang="bg-BG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32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AADD303-DCA4-4A6A-91A1-0258E0B154E1}" type="slidenum">
              <a:rPr lang="bg-BG"/>
              <a:pPr eaLnBrk="1" hangingPunct="1"/>
              <a:t>33</a:t>
            </a:fld>
            <a:endParaRPr lang="bg-BG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7789AE-1E7A-4451-9267-605DB54B7B01}" type="slidenum">
              <a:rPr lang="bg-BG"/>
              <a:pPr eaLnBrk="1" hangingPunct="1"/>
              <a:t>34</a:t>
            </a:fld>
            <a:endParaRPr lang="bg-BG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20CF89A-C7E1-4D72-ABA8-1638DE33C91E}" type="slidenum">
              <a:rPr lang="bg-BG"/>
              <a:pPr eaLnBrk="1" hangingPunct="1"/>
              <a:t>35</a:t>
            </a:fld>
            <a:endParaRPr lang="bg-BG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D9CCC94-D63E-43D9-AEF9-4D9317F7FA8F}" type="slidenum">
              <a:rPr lang="bg-BG"/>
              <a:pPr eaLnBrk="1" hangingPunct="1"/>
              <a:t>36</a:t>
            </a:fld>
            <a:endParaRPr lang="bg-BG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F4FA3F-5F55-4E73-881C-06019D955B9C}" type="slidenum">
              <a:rPr lang="bg-BG"/>
              <a:pPr eaLnBrk="1" hangingPunct="1"/>
              <a:t>37</a:t>
            </a:fld>
            <a:endParaRPr lang="bg-BG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9C96063-7005-4878-9EC7-AA862026D231}" type="slidenum">
              <a:rPr lang="bg-BG"/>
              <a:pPr eaLnBrk="1" hangingPunct="1"/>
              <a:t>38</a:t>
            </a:fld>
            <a:endParaRPr lang="bg-BG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40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41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42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43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44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45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6D01E0F-DCEB-4C5B-AD55-5958747E29B5}" type="slidenum">
              <a:rPr lang="bg-BG" smtClean="0"/>
              <a:pPr eaLnBrk="1" hangingPunct="1"/>
              <a:t>46</a:t>
            </a:fld>
            <a:endParaRPr lang="bg-BG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4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397B2-BA3B-45AC-8174-E807F90F3328}" type="slidenum">
              <a:rPr lang="bg-BG" smtClean="0"/>
              <a:pPr/>
              <a:t>47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119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opac.government.bg/" TargetMode="External"/><Relationship Id="rId3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opac.government.bg/" TargetMode="External"/><Relationship Id="rId3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opac.government.bg/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opac.government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лавие, съдържание и 2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 userDrawn="1"/>
        </p:nvSpPr>
        <p:spPr bwMode="auto">
          <a:xfrm>
            <a:off x="539750" y="6092825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200">
                <a:solidFill>
                  <a:schemeClr val="tx2"/>
                </a:solidFill>
                <a:latin typeface="Times New Roman" pitchFamily="18" charset="0"/>
              </a:rPr>
              <a:t/>
            </a:r>
            <a:br>
              <a:rPr lang="bg-BG" sz="1200">
                <a:solidFill>
                  <a:schemeClr val="tx2"/>
                </a:solidFill>
                <a:latin typeface="Times New Roman" pitchFamily="18" charset="0"/>
              </a:rPr>
            </a:br>
            <a:r>
              <a:rPr lang="bg-BG" sz="1200">
                <a:solidFill>
                  <a:schemeClr val="tx2"/>
                </a:solidFill>
                <a:latin typeface="Times New Roman" pitchFamily="18" charset="0"/>
              </a:rPr>
              <a:t> Проектът се осъществява с финансовата подкрепа на Оперативна програма „Административен капацитет”, съфинансирана от Европейския съюз чрез Европейския социален фонд</a:t>
            </a:r>
          </a:p>
          <a:p>
            <a:pPr eaLnBrk="1" hangingPunct="1"/>
            <a:r>
              <a:rPr lang="bg-BG" sz="1200">
                <a:solidFill>
                  <a:schemeClr val="tx2"/>
                </a:solidFill>
                <a:latin typeface="Times New Roman" pitchFamily="18" charset="0"/>
                <a:hlinkClick r:id="rId2"/>
              </a:rPr>
              <a:t>www.opac.government.bg</a:t>
            </a:r>
            <a:endParaRPr lang="bg-BG" sz="120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7" name="Picture 4" descr="blanka_word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33375"/>
            <a:ext cx="75247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400" i="0">
                <a:solidFill>
                  <a:schemeClr val="accent1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Контейнер за съдържани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6CC33A-ACC8-4F3A-9ECA-90B3EA5282AE}" type="slidenum">
              <a:rPr lang="bg-BG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009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 userDrawn="1"/>
        </p:nvSpPr>
        <p:spPr bwMode="auto">
          <a:xfrm>
            <a:off x="539750" y="6092825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200">
                <a:solidFill>
                  <a:schemeClr val="tx2"/>
                </a:solidFill>
                <a:latin typeface="Times New Roman" pitchFamily="18" charset="0"/>
              </a:rPr>
              <a:t/>
            </a:r>
            <a:br>
              <a:rPr lang="bg-BG" sz="1200">
                <a:solidFill>
                  <a:schemeClr val="tx2"/>
                </a:solidFill>
                <a:latin typeface="Times New Roman" pitchFamily="18" charset="0"/>
              </a:rPr>
            </a:br>
            <a:r>
              <a:rPr lang="bg-BG" sz="1200">
                <a:solidFill>
                  <a:schemeClr val="tx2"/>
                </a:solidFill>
                <a:latin typeface="Times New Roman" pitchFamily="18" charset="0"/>
              </a:rPr>
              <a:t> Проектът се осъществява с финансовата подкрепа на Оперативна програма „Административен капацитет”, съфинансирана от Европейския съюз чрез Европейския социален фонд</a:t>
            </a:r>
          </a:p>
          <a:p>
            <a:pPr eaLnBrk="1" hangingPunct="1"/>
            <a:r>
              <a:rPr lang="bg-BG" sz="1200">
                <a:solidFill>
                  <a:schemeClr val="tx2"/>
                </a:solidFill>
                <a:latin typeface="Times New Roman" pitchFamily="18" charset="0"/>
                <a:hlinkClick r:id="rId2"/>
              </a:rPr>
              <a:t>www.opac.government.bg</a:t>
            </a:r>
            <a:endParaRPr lang="bg-BG" sz="120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4" name="Picture 5" descr="blanka_word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88913"/>
            <a:ext cx="75247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196752"/>
            <a:ext cx="8229600" cy="1143000"/>
          </a:xfrm>
        </p:spPr>
        <p:txBody>
          <a:bodyPr/>
          <a:lstStyle>
            <a:lvl1pPr>
              <a:defRPr sz="2400" i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44626AB-1411-425A-B683-7DBC1CCA057D}" type="slidenum">
              <a:rPr lang="bg-BG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2019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2133600"/>
            <a:ext cx="3505200" cy="2590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133600"/>
            <a:ext cx="3505200" cy="2590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54467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586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  <a:lvl2pPr marL="742950" indent="-285750">
              <a:buFont typeface="Arial" pitchFamily="34" charset="0"/>
              <a:buChar char="•"/>
              <a:defRPr/>
            </a:lvl2pPr>
            <a:lvl3pPr marL="1143000" indent="-228600">
              <a:buFont typeface="Courier New" pitchFamily="49" charset="0"/>
              <a:buChar char="o"/>
              <a:defRPr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5" name="Rectangle 3"/>
          <p:cNvSpPr txBox="1">
            <a:spLocks noChangeArrowheads="1"/>
          </p:cNvSpPr>
          <p:nvPr userDrawn="1"/>
        </p:nvSpPr>
        <p:spPr bwMode="auto">
          <a:xfrm>
            <a:off x="539750" y="5616575"/>
            <a:ext cx="8229600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/>
            </a:r>
            <a:b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> Проектът се осъществява с финансовата подкрепа на Оперативна програма „Административен капацитет”, 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</a:rPr>
              <a:t>съфинансирана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> от Европейския съюз чрез Европейския социален фонд</a:t>
            </a:r>
          </a:p>
          <a:p>
            <a:pPr>
              <a:defRPr/>
            </a:pP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www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opac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government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bg</a:t>
            </a:r>
            <a:endParaRPr lang="bg-BG" sz="1200" kern="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cxnSp>
        <p:nvCxnSpPr>
          <p:cNvPr id="6" name="Straight Connector 4"/>
          <p:cNvCxnSpPr>
            <a:cxnSpLocks noChangeShapeType="1"/>
          </p:cNvCxnSpPr>
          <p:nvPr userDrawn="1"/>
        </p:nvCxnSpPr>
        <p:spPr bwMode="auto">
          <a:xfrm>
            <a:off x="611560" y="6092825"/>
            <a:ext cx="7777162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8"/>
          <p:cNvCxnSpPr>
            <a:cxnSpLocks noChangeShapeType="1"/>
          </p:cNvCxnSpPr>
          <p:nvPr userDrawn="1"/>
        </p:nvCxnSpPr>
        <p:spPr bwMode="auto">
          <a:xfrm>
            <a:off x="604640" y="1628428"/>
            <a:ext cx="7777162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539105" y="980728"/>
            <a:ext cx="4896991" cy="576263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rgbClr val="0070C0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742465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  <a:lvl2pPr marL="742950" indent="-285750">
              <a:buFont typeface="Arial" pitchFamily="34" charset="0"/>
              <a:buChar char="•"/>
              <a:defRPr/>
            </a:lvl2pPr>
            <a:lvl3pPr marL="1143000" indent="-228600">
              <a:buFont typeface="Courier New" pitchFamily="49" charset="0"/>
              <a:buChar char="o"/>
              <a:defRPr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5" name="Rectangle 3"/>
          <p:cNvSpPr txBox="1">
            <a:spLocks noChangeArrowheads="1"/>
          </p:cNvSpPr>
          <p:nvPr userDrawn="1"/>
        </p:nvSpPr>
        <p:spPr bwMode="auto">
          <a:xfrm>
            <a:off x="539750" y="5616575"/>
            <a:ext cx="8229600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/>
            </a:r>
            <a:b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> Проектът се осъществява с финансовата подкрепа на Оперативна програма „Административен капацитет”, 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</a:rPr>
              <a:t>съфинансирана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</a:rPr>
              <a:t> от Европейския съюз чрез Европейския социален фонд</a:t>
            </a:r>
          </a:p>
          <a:p>
            <a:pPr>
              <a:defRPr/>
            </a:pP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www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opac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government</a:t>
            </a:r>
            <a:r>
              <a:rPr lang="bg-BG" sz="1200" kern="0" dirty="0">
                <a:solidFill>
                  <a:schemeClr val="tx2"/>
                </a:solidFill>
                <a:latin typeface="Times New Roman" pitchFamily="18" charset="0"/>
                <a:hlinkClick r:id="rId2"/>
              </a:rPr>
              <a:t>.</a:t>
            </a:r>
            <a:r>
              <a:rPr lang="bg-BG" sz="1200" kern="0" dirty="0" err="1">
                <a:solidFill>
                  <a:schemeClr val="tx2"/>
                </a:solidFill>
                <a:latin typeface="Times New Roman" pitchFamily="18" charset="0"/>
                <a:hlinkClick r:id="rId2"/>
              </a:rPr>
              <a:t>bg</a:t>
            </a:r>
            <a:endParaRPr lang="bg-BG" sz="1200" kern="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cxnSp>
        <p:nvCxnSpPr>
          <p:cNvPr id="6" name="Straight Connector 4"/>
          <p:cNvCxnSpPr>
            <a:cxnSpLocks noChangeShapeType="1"/>
          </p:cNvCxnSpPr>
          <p:nvPr userDrawn="1"/>
        </p:nvCxnSpPr>
        <p:spPr bwMode="auto">
          <a:xfrm>
            <a:off x="611560" y="6092825"/>
            <a:ext cx="7777162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8"/>
          <p:cNvCxnSpPr>
            <a:cxnSpLocks noChangeShapeType="1"/>
          </p:cNvCxnSpPr>
          <p:nvPr userDrawn="1"/>
        </p:nvCxnSpPr>
        <p:spPr bwMode="auto">
          <a:xfrm>
            <a:off x="604640" y="1628428"/>
            <a:ext cx="7777162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539105" y="980728"/>
            <a:ext cx="4896991" cy="576263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rgbClr val="0070C0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824521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bg-BG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bg-BG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ru-RU"/>
              <a:t>Проектът се осъществява с финансовата подкрепа на Оперативна програма „Административен капацитет”, съфинансирана от Европейския съюз чрез Европейския социален фонд www.opac.government.bg </a:t>
            </a:r>
            <a:endParaRPr lang="bg-BG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2BC2EF-9499-4E9E-9955-39DBBE5898E4}" type="slidenum">
              <a:rPr lang="bg-BG"/>
              <a:pPr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9" r:id="rId3"/>
    <p:sldLayoutId id="2147483900" r:id="rId4"/>
    <p:sldLayoutId id="2147483904" r:id="rId5"/>
    <p:sldLayoutId id="2147483906" r:id="rId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i="0">
          <a:solidFill>
            <a:srgbClr val="1E4649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1E464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1E464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1E464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1E464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3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emf"/><Relationship Id="rId7" Type="http://schemas.openxmlformats.org/officeDocument/2006/relationships/image" Target="../media/image24.emf"/><Relationship Id="rId8" Type="http://schemas.openxmlformats.org/officeDocument/2006/relationships/image" Target="../media/image25.emf"/><Relationship Id="rId9" Type="http://schemas.openxmlformats.org/officeDocument/2006/relationships/image" Target="../media/image26.emf"/><Relationship Id="rId10" Type="http://schemas.openxmlformats.org/officeDocument/2006/relationships/image" Target="../media/image27.emf"/><Relationship Id="rId11" Type="http://schemas.openxmlformats.org/officeDocument/2006/relationships/image" Target="../media/image28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emf"/><Relationship Id="rId7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1700808"/>
            <a:ext cx="5400600" cy="4536503"/>
          </a:xfrm>
        </p:spPr>
      </p:pic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734703" y="1052736"/>
            <a:ext cx="7777162" cy="468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>
              <a:spcBef>
                <a:spcPct val="20000"/>
              </a:spcBef>
            </a:pPr>
            <a:r>
              <a:rPr lang="bg-BG" sz="2400" b="1" dirty="0" smtClean="0">
                <a:latin typeface="Cambria" pitchFamily="18" charset="0"/>
              </a:rPr>
              <a:t>МОДЕЛИРАНЕ НА РАБОТНИТЕ ПРОЦЕСИ ПО ПРЕДОСТАВЯНЕ НА АДМИНИСТРАТИВНИ УСЛУГИ</a:t>
            </a:r>
            <a:endParaRPr lang="bg-BG" sz="2400" b="1" dirty="0">
              <a:latin typeface="Cambria" pitchFamily="18" charset="0"/>
            </a:endParaRPr>
          </a:p>
          <a:p>
            <a:pPr>
              <a:spcBef>
                <a:spcPct val="20000"/>
              </a:spcBef>
            </a:pPr>
            <a:endParaRPr lang="bg-BG" sz="20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20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20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2000" b="1" dirty="0">
              <a:latin typeface="Times New Roman" pitchFamily="18" charset="0"/>
            </a:endParaRPr>
          </a:p>
        </p:txBody>
      </p:sp>
      <p:sp>
        <p:nvSpPr>
          <p:cNvPr id="512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4C97A36-6AF3-4B68-B8AC-6BC013B2BCAF}" type="slidenum">
              <a:rPr lang="bg-BG" smtClean="0"/>
              <a:pPr/>
              <a:t>1</a:t>
            </a:fld>
            <a:endParaRPr lang="bg-BG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533" y="404664"/>
            <a:ext cx="6882843" cy="685800"/>
          </a:xfrm>
        </p:spPr>
        <p:txBody>
          <a:bodyPr/>
          <a:lstStyle/>
          <a:p>
            <a:r>
              <a:rPr lang="bg-BG" sz="2400" dirty="0" smtClean="0">
                <a:solidFill>
                  <a:schemeClr val="tx1"/>
                </a:solidFill>
                <a:latin typeface="Cambria" pitchFamily="18" charset="0"/>
              </a:rPr>
              <a:t>Администрацията– съвкупност от процеси</a:t>
            </a: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8985058"/>
              </p:ext>
            </p:extLst>
          </p:nvPr>
        </p:nvGraphicFramePr>
        <p:xfrm>
          <a:off x="1624013" y="1558206"/>
          <a:ext cx="7210425" cy="338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" name="Visio" r:id="rId4" imgW="8848932" imgH="4150769" progId="Visio.Drawing.11">
                  <p:embed/>
                </p:oleObj>
              </mc:Choice>
              <mc:Fallback>
                <p:oleObj name="Visio" r:id="rId4" imgW="8848932" imgH="4150769" progId="Visio.Drawing.11">
                  <p:embed/>
                  <p:pic>
                    <p:nvPicPr>
                      <p:cNvPr id="0" name="Picture 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558206"/>
                        <a:ext cx="7210425" cy="338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>
                                <a:alpha val="3999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2627313" y="4149725"/>
            <a:ext cx="144462" cy="144463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0"/>
                  <a:invGamma/>
                </a:schemeClr>
              </a:gs>
            </a:gsLst>
            <a:lin ang="5400000" scaled="1"/>
          </a:gradFill>
          <a:ln w="317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bg-BG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3995738" y="3573463"/>
            <a:ext cx="144462" cy="144462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0"/>
                  <a:invGamma/>
                </a:schemeClr>
              </a:gs>
            </a:gsLst>
            <a:lin ang="5400000" scaled="1"/>
          </a:gradFill>
          <a:ln w="317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bg-BG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5508625" y="4652963"/>
            <a:ext cx="144463" cy="144462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0"/>
                  <a:invGamma/>
                </a:schemeClr>
              </a:gs>
            </a:gsLst>
            <a:lin ang="5400000" scaled="1"/>
          </a:gradFill>
          <a:ln w="317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bg-BG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7019925" y="4149725"/>
            <a:ext cx="144463" cy="144463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0"/>
                  <a:invGamma/>
                </a:schemeClr>
              </a:gs>
            </a:gsLst>
            <a:lin ang="5400000" scaled="1"/>
          </a:gradFill>
          <a:ln w="317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bg-BG"/>
          </a:p>
        </p:txBody>
      </p:sp>
      <p:sp>
        <p:nvSpPr>
          <p:cNvPr id="55307" name="AutoShape 11"/>
          <p:cNvSpPr>
            <a:spLocks noChangeArrowheads="1"/>
          </p:cNvSpPr>
          <p:nvPr/>
        </p:nvSpPr>
        <p:spPr bwMode="auto">
          <a:xfrm rot="-868732">
            <a:off x="1700213" y="4291013"/>
            <a:ext cx="936625" cy="142875"/>
          </a:xfrm>
          <a:prstGeom prst="rightArrow">
            <a:avLst>
              <a:gd name="adj1" fmla="val 54444"/>
              <a:gd name="adj2" fmla="val 105283"/>
            </a:avLst>
          </a:prstGeom>
          <a:solidFill>
            <a:srgbClr val="FF9900">
              <a:alpha val="39999"/>
            </a:srgbClr>
          </a:solidFill>
          <a:ln w="31750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55308" name="AutoShape 12"/>
          <p:cNvSpPr>
            <a:spLocks noChangeArrowheads="1"/>
          </p:cNvSpPr>
          <p:nvPr/>
        </p:nvSpPr>
        <p:spPr bwMode="auto">
          <a:xfrm rot="-1249144">
            <a:off x="2762250" y="3881438"/>
            <a:ext cx="1223963" cy="142875"/>
          </a:xfrm>
          <a:prstGeom prst="rightArrow">
            <a:avLst>
              <a:gd name="adj1" fmla="val 54444"/>
              <a:gd name="adj2" fmla="val 137582"/>
            </a:avLst>
          </a:prstGeom>
          <a:solidFill>
            <a:srgbClr val="FF9900">
              <a:alpha val="39999"/>
            </a:srgbClr>
          </a:solidFill>
          <a:ln w="31750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55309" name="AutoShape 13"/>
          <p:cNvSpPr>
            <a:spLocks noChangeArrowheads="1"/>
          </p:cNvSpPr>
          <p:nvPr/>
        </p:nvSpPr>
        <p:spPr bwMode="auto">
          <a:xfrm rot="2439362">
            <a:off x="4068763" y="4148138"/>
            <a:ext cx="1439862" cy="144462"/>
          </a:xfrm>
          <a:prstGeom prst="rightArrow">
            <a:avLst>
              <a:gd name="adj1" fmla="val 54444"/>
              <a:gd name="adj2" fmla="val 160073"/>
            </a:avLst>
          </a:prstGeom>
          <a:solidFill>
            <a:srgbClr val="FF9900">
              <a:alpha val="39999"/>
            </a:srgbClr>
          </a:solidFill>
          <a:ln w="31750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55310" name="AutoShape 14"/>
          <p:cNvSpPr>
            <a:spLocks noChangeArrowheads="1"/>
          </p:cNvSpPr>
          <p:nvPr/>
        </p:nvSpPr>
        <p:spPr bwMode="auto">
          <a:xfrm rot="-1249144">
            <a:off x="5724525" y="4437063"/>
            <a:ext cx="1223963" cy="142875"/>
          </a:xfrm>
          <a:prstGeom prst="rightArrow">
            <a:avLst>
              <a:gd name="adj1" fmla="val 54444"/>
              <a:gd name="adj2" fmla="val 137582"/>
            </a:avLst>
          </a:prstGeom>
          <a:solidFill>
            <a:srgbClr val="FF9900">
              <a:alpha val="39999"/>
            </a:srgbClr>
          </a:solidFill>
          <a:ln w="31750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195513" y="2924175"/>
            <a:ext cx="1800225" cy="1225550"/>
            <a:chOff x="1383" y="1842"/>
            <a:chExt cx="1134" cy="772"/>
          </a:xfrm>
        </p:grpSpPr>
        <p:sp>
          <p:nvSpPr>
            <p:cNvPr id="1039" name="Line 16"/>
            <p:cNvSpPr>
              <a:spLocks noChangeShapeType="1"/>
            </p:cNvSpPr>
            <p:nvPr/>
          </p:nvSpPr>
          <p:spPr bwMode="auto">
            <a:xfrm flipH="1" flipV="1">
              <a:off x="1383" y="1842"/>
              <a:ext cx="272" cy="7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bg-BG"/>
            </a:p>
          </p:txBody>
        </p:sp>
        <p:sp>
          <p:nvSpPr>
            <p:cNvPr id="1040" name="Line 17"/>
            <p:cNvSpPr>
              <a:spLocks noChangeShapeType="1"/>
            </p:cNvSpPr>
            <p:nvPr/>
          </p:nvSpPr>
          <p:spPr bwMode="auto">
            <a:xfrm>
              <a:off x="1383" y="1842"/>
              <a:ext cx="86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bg-BG"/>
            </a:p>
          </p:txBody>
        </p:sp>
        <p:sp>
          <p:nvSpPr>
            <p:cNvPr id="1041" name="Line 18"/>
            <p:cNvSpPr>
              <a:spLocks noChangeShapeType="1"/>
            </p:cNvSpPr>
            <p:nvPr/>
          </p:nvSpPr>
          <p:spPr bwMode="auto">
            <a:xfrm>
              <a:off x="2245" y="1842"/>
              <a:ext cx="272" cy="40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bg-BG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115616" y="4066579"/>
            <a:ext cx="752404" cy="883841"/>
            <a:chOff x="3243532" y="5445224"/>
            <a:chExt cx="752404" cy="883841"/>
          </a:xfrm>
        </p:grpSpPr>
        <p:pic>
          <p:nvPicPr>
            <p:cNvPr id="1072" name="Picture 48" descr="C:\Users\mchekalarov\AppData\Local\Microsoft\Windows\Temporary Internet Files\Content.IE5\I93IF16R\MC900432626[1]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243532" y="5445224"/>
              <a:ext cx="680396" cy="680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3271058" y="6021288"/>
              <a:ext cx="7248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bg-BG" sz="1400" b="1" dirty="0" smtClean="0">
                  <a:solidFill>
                    <a:schemeClr val="bg2"/>
                  </a:solidFill>
                  <a:latin typeface="Calibri" pitchFamily="34" charset="0"/>
                  <a:cs typeface="Calibri" pitchFamily="34" charset="0"/>
                </a:rPr>
                <a:t>клиент</a:t>
              </a:r>
              <a:endParaRPr lang="bg-BG" sz="1400" b="1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6045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nimBg="1"/>
      <p:bldP spid="55301" grpId="0" animBg="1"/>
      <p:bldP spid="55302" grpId="0" animBg="1"/>
      <p:bldP spid="55303" grpId="0" animBg="1"/>
      <p:bldP spid="55307" grpId="0" animBg="1"/>
      <p:bldP spid="55308" grpId="0" animBg="1"/>
      <p:bldP spid="55309" grpId="0" animBg="1"/>
      <p:bldP spid="553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 bwMode="auto">
          <a:xfrm>
            <a:off x="611560" y="1344216"/>
            <a:ext cx="7992888" cy="1402432"/>
          </a:xfrm>
          <a:prstGeom prst="roundRect">
            <a:avLst/>
          </a:prstGeom>
          <a:solidFill>
            <a:srgbClr val="C4E59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611560" y="4834880"/>
            <a:ext cx="7992888" cy="1402432"/>
          </a:xfrm>
          <a:prstGeom prst="roundRect">
            <a:avLst/>
          </a:prstGeom>
          <a:solidFill>
            <a:srgbClr val="C4E59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611560" y="2890664"/>
            <a:ext cx="7992888" cy="1402432"/>
          </a:xfrm>
          <a:prstGeom prst="roundRect">
            <a:avLst/>
          </a:prstGeom>
          <a:solidFill>
            <a:srgbClr val="C4E59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880" y="2890664"/>
            <a:ext cx="8229600" cy="1143000"/>
          </a:xfrm>
        </p:spPr>
        <p:txBody>
          <a:bodyPr/>
          <a:lstStyle/>
          <a:p>
            <a:pPr algn="l"/>
            <a:r>
              <a:rPr lang="bg-BG" sz="3200" u="sng" dirty="0" smtClean="0">
                <a:latin typeface="Cambria" pitchFamily="18" charset="0"/>
              </a:rPr>
              <a:t/>
            </a:r>
            <a:br>
              <a:rPr lang="bg-BG" sz="3200" u="sng" dirty="0" smtClean="0">
                <a:latin typeface="Cambria" pitchFamily="18" charset="0"/>
              </a:rPr>
            </a:br>
            <a:r>
              <a:rPr lang="bg-BG" sz="3200" u="sng" dirty="0">
                <a:latin typeface="Cambria" pitchFamily="18" charset="0"/>
              </a:rPr>
              <a:t/>
            </a:r>
            <a:br>
              <a:rPr lang="bg-BG" sz="3200" u="sng" dirty="0">
                <a:latin typeface="Cambria" pitchFamily="18" charset="0"/>
              </a:rPr>
            </a:br>
            <a:r>
              <a:rPr lang="bg-BG" sz="2800" u="sng" dirty="0" smtClean="0">
                <a:latin typeface="Cambria" pitchFamily="18" charset="0"/>
              </a:rPr>
              <a:t>Администрация</a:t>
            </a:r>
            <a:r>
              <a:rPr lang="bg-BG" sz="2800" dirty="0">
                <a:latin typeface="Cambria" pitchFamily="18" charset="0"/>
              </a:rPr>
              <a:t>: Българска агенция по безопасност на </a:t>
            </a:r>
            <a:r>
              <a:rPr lang="bg-BG" sz="2800" dirty="0" smtClean="0">
                <a:latin typeface="Cambria" pitchFamily="18" charset="0"/>
              </a:rPr>
              <a:t>храните</a:t>
            </a:r>
            <a:br>
              <a:rPr lang="bg-BG" sz="2800" dirty="0" smtClean="0">
                <a:latin typeface="Cambria" pitchFamily="18" charset="0"/>
              </a:rPr>
            </a:br>
            <a:r>
              <a:rPr lang="bg-BG" sz="3200" dirty="0">
                <a:latin typeface="Cambria" pitchFamily="18" charset="0"/>
              </a:rPr>
              <a:t/>
            </a:r>
            <a:br>
              <a:rPr lang="bg-BG" sz="3200" dirty="0">
                <a:latin typeface="Cambria" pitchFamily="18" charset="0"/>
              </a:rPr>
            </a:br>
            <a:r>
              <a:rPr lang="bg-BG" sz="2800" u="sng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  <a:t>Услуга</a:t>
            </a:r>
            <a:r>
              <a:rPr lang="bg-BG" sz="28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  <a:t>: Издаване на лиценз за употреба </a:t>
            </a:r>
            <a:br>
              <a:rPr lang="bg-BG" sz="28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</a:br>
            <a:r>
              <a:rPr lang="bg-BG" sz="28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  <a:t>на ветеринарно-медицински продукти</a:t>
            </a:r>
            <a:r>
              <a:rPr lang="bg-BG" sz="3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  <a:t/>
            </a:r>
            <a:br>
              <a:rPr lang="bg-BG" sz="3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mbria" pitchFamily="18" charset="0"/>
              </a:rPr>
            </a:br>
            <a:r>
              <a:rPr lang="bg-BG" sz="3200" dirty="0" smtClean="0">
                <a:latin typeface="Cambria" pitchFamily="18" charset="0"/>
              </a:rPr>
              <a:t/>
            </a:r>
            <a:br>
              <a:rPr lang="bg-BG" sz="3200" dirty="0" smtClean="0">
                <a:latin typeface="Cambria" pitchFamily="18" charset="0"/>
              </a:rPr>
            </a:br>
            <a:r>
              <a:rPr lang="bg-BG" sz="3200" dirty="0" smtClean="0">
                <a:latin typeface="Cambria" pitchFamily="18" charset="0"/>
              </a:rPr>
              <a:t/>
            </a:r>
            <a:br>
              <a:rPr lang="bg-BG" sz="3200" dirty="0" smtClean="0">
                <a:latin typeface="Cambria" pitchFamily="18" charset="0"/>
              </a:rPr>
            </a:br>
            <a:r>
              <a:rPr lang="bg-BG" sz="2800" u="sng" dirty="0" smtClean="0">
                <a:solidFill>
                  <a:srgbClr val="FF0000"/>
                </a:solidFill>
                <a:latin typeface="Cambria" pitchFamily="18" charset="0"/>
              </a:rPr>
              <a:t>Отговорна дирекция</a:t>
            </a:r>
            <a:r>
              <a:rPr lang="bg-BG" sz="2800" dirty="0" smtClean="0">
                <a:solidFill>
                  <a:srgbClr val="FF0000"/>
                </a:solidFill>
                <a:latin typeface="Cambria" pitchFamily="18" charset="0"/>
              </a:rPr>
              <a:t>: </a:t>
            </a:r>
            <a:br>
              <a:rPr lang="bg-BG" sz="2800" dirty="0" smtClean="0">
                <a:solidFill>
                  <a:srgbClr val="FF0000"/>
                </a:solidFill>
                <a:latin typeface="Cambria" pitchFamily="18" charset="0"/>
              </a:rPr>
            </a:br>
            <a:r>
              <a:rPr lang="bg-BG" sz="2800" dirty="0" smtClean="0">
                <a:solidFill>
                  <a:srgbClr val="FF0000"/>
                </a:solidFill>
                <a:latin typeface="Cambria" pitchFamily="18" charset="0"/>
              </a:rPr>
              <a:t>Дирекция Ветеринарно-медицински продукти</a:t>
            </a:r>
            <a:endParaRPr lang="bg-BG" sz="28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05581" y="116632"/>
            <a:ext cx="6139656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i="0">
                <a:solidFill>
                  <a:srgbClr val="1E4649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1E4649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1E4649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1E4649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rgbClr val="1E4649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bg-BG" kern="0" dirty="0" smtClean="0">
                <a:solidFill>
                  <a:schemeClr val="tx1"/>
                </a:solidFill>
                <a:latin typeface="Cambria" pitchFamily="18" charset="0"/>
              </a:rPr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36221802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6150163" y="9972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30091" y="0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116632"/>
            <a:ext cx="1681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ЦУ на БАБХ</a:t>
            </a:r>
            <a:endParaRPr lang="bg-BG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372200" y="142350"/>
            <a:ext cx="2069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Дирекция ВМП</a:t>
            </a:r>
            <a:endParaRPr lang="bg-BG" sz="2000" b="1" dirty="0"/>
          </a:p>
        </p:txBody>
      </p:sp>
      <p:grpSp>
        <p:nvGrpSpPr>
          <p:cNvPr id="31" name="Group 30"/>
          <p:cNvGrpSpPr/>
          <p:nvPr/>
        </p:nvGrpSpPr>
        <p:grpSpPr>
          <a:xfrm>
            <a:off x="389523" y="866838"/>
            <a:ext cx="2507704" cy="1836204"/>
            <a:chOff x="389523" y="866838"/>
            <a:chExt cx="2507704" cy="1836204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461531" y="866838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9523" y="1226878"/>
              <a:ext cx="25077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1. Заявителят подава заявление за издаване на лиценз</a:t>
              </a:r>
              <a:endParaRPr lang="bg-BG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742084" y="2541976"/>
            <a:ext cx="1253852" cy="1163274"/>
            <a:chOff x="2742084" y="2541976"/>
            <a:chExt cx="1253852" cy="1163274"/>
          </a:xfrm>
        </p:grpSpPr>
        <p:sp>
          <p:nvSpPr>
            <p:cNvPr id="11" name="Vertical Scroll 10"/>
            <p:cNvSpPr/>
            <p:nvPr/>
          </p:nvSpPr>
          <p:spPr bwMode="auto">
            <a:xfrm>
              <a:off x="2807817" y="2541976"/>
              <a:ext cx="1122412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2084" y="2782669"/>
              <a:ext cx="1253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/>
                <a:t>Входящ</a:t>
              </a:r>
              <a:br>
                <a:rPr lang="bg-BG" dirty="0" smtClean="0"/>
              </a:br>
              <a:r>
                <a:rPr lang="bg-BG" dirty="0" smtClean="0"/>
                <a:t>номер</a:t>
              </a:r>
              <a:endParaRPr lang="bg-BG" dirty="0"/>
            </a:p>
          </p:txBody>
        </p:sp>
      </p:grpSp>
      <p:sp>
        <p:nvSpPr>
          <p:cNvPr id="14" name="Curved Up Arrow 13"/>
          <p:cNvSpPr/>
          <p:nvPr/>
        </p:nvSpPr>
        <p:spPr bwMode="auto">
          <a:xfrm rot="1068305">
            <a:off x="1834895" y="2845736"/>
            <a:ext cx="1116124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995936" y="1556792"/>
            <a:ext cx="2409686" cy="1659509"/>
            <a:chOff x="4178538" y="1556792"/>
            <a:chExt cx="2409686" cy="1659509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4432" y="1556792"/>
              <a:ext cx="181927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Striped Right Arrow 14"/>
            <p:cNvSpPr/>
            <p:nvPr/>
          </p:nvSpPr>
          <p:spPr bwMode="auto">
            <a:xfrm>
              <a:off x="4178538" y="2469903"/>
              <a:ext cx="2409686" cy="466278"/>
            </a:xfrm>
            <a:prstGeom prst="stripedRightArrow">
              <a:avLst>
                <a:gd name="adj1" fmla="val 49999"/>
                <a:gd name="adj2" fmla="val 50000"/>
              </a:avLst>
            </a:prstGeom>
            <a:solidFill>
              <a:srgbClr val="FF8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82703" y="2846969"/>
              <a:ext cx="1253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40-60 min</a:t>
              </a:r>
              <a:endParaRPr lang="bg-BG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444208" y="1459130"/>
            <a:ext cx="2507704" cy="1584176"/>
            <a:chOff x="6444208" y="1459130"/>
            <a:chExt cx="2507704" cy="1584176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588224" y="1459130"/>
              <a:ext cx="2232248" cy="158417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44208" y="1747162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2. Заявителят иска становище за дължима такса</a:t>
              </a:r>
              <a:endParaRPr lang="bg-BG" b="1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472100" y="4041068"/>
            <a:ext cx="1944216" cy="1163274"/>
            <a:chOff x="5472100" y="4041068"/>
            <a:chExt cx="1944216" cy="1163274"/>
          </a:xfrm>
        </p:grpSpPr>
        <p:sp>
          <p:nvSpPr>
            <p:cNvPr id="22" name="Vertical Scroll 21"/>
            <p:cNvSpPr/>
            <p:nvPr/>
          </p:nvSpPr>
          <p:spPr bwMode="auto">
            <a:xfrm>
              <a:off x="5472100" y="4041068"/>
              <a:ext cx="1944216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57954" y="4328667"/>
              <a:ext cx="1822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/>
                <a:t>Становище за дължима такса</a:t>
              </a:r>
              <a:endParaRPr lang="bg-BG" dirty="0"/>
            </a:p>
          </p:txBody>
        </p:sp>
      </p:grpSp>
      <p:sp>
        <p:nvSpPr>
          <p:cNvPr id="16" name="Curved Left Arrow 15"/>
          <p:cNvSpPr/>
          <p:nvPr/>
        </p:nvSpPr>
        <p:spPr bwMode="auto">
          <a:xfrm rot="1329055">
            <a:off x="7399417" y="3131654"/>
            <a:ext cx="621285" cy="1082021"/>
          </a:xfrm>
          <a:prstGeom prst="curvedLeftArrow">
            <a:avLst>
              <a:gd name="adj1" fmla="val 25000"/>
              <a:gd name="adj2" fmla="val 50000"/>
              <a:gd name="adj3" fmla="val 195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30091" y="4041068"/>
            <a:ext cx="2507704" cy="1836204"/>
            <a:chOff x="330091" y="4041068"/>
            <a:chExt cx="2507704" cy="1836204"/>
          </a:xfrm>
        </p:grpSpPr>
        <p:sp>
          <p:nvSpPr>
            <p:cNvPr id="30" name="Rounded Rectangle 29"/>
            <p:cNvSpPr/>
            <p:nvPr/>
          </p:nvSpPr>
          <p:spPr bwMode="auto">
            <a:xfrm>
              <a:off x="409394" y="4041068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30091" y="4433364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3. Заявителят плаща таксата в брой</a:t>
              </a:r>
              <a:endParaRPr lang="bg-BG" b="1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071951" y="3917801"/>
            <a:ext cx="2409686" cy="1767144"/>
            <a:chOff x="3071951" y="3917801"/>
            <a:chExt cx="2409686" cy="1767144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3857" y="3917801"/>
              <a:ext cx="181927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Striped Right Arrow 26"/>
            <p:cNvSpPr/>
            <p:nvPr/>
          </p:nvSpPr>
          <p:spPr bwMode="auto">
            <a:xfrm rot="10800000">
              <a:off x="3071951" y="4849335"/>
              <a:ext cx="2409686" cy="466278"/>
            </a:xfrm>
            <a:prstGeom prst="stripedRightArrow">
              <a:avLst>
                <a:gd name="adj1" fmla="val 49999"/>
                <a:gd name="adj2" fmla="val 50000"/>
              </a:avLst>
            </a:prstGeom>
            <a:solidFill>
              <a:srgbClr val="FF8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81547" y="5315613"/>
              <a:ext cx="1253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40-60 min</a:t>
              </a:r>
              <a:endParaRPr lang="bg-BG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719244" y="5684945"/>
            <a:ext cx="1253852" cy="1163274"/>
            <a:chOff x="2719244" y="5684945"/>
            <a:chExt cx="1253852" cy="1163274"/>
          </a:xfrm>
        </p:grpSpPr>
        <p:sp>
          <p:nvSpPr>
            <p:cNvPr id="33" name="Vertical Scroll 32"/>
            <p:cNvSpPr/>
            <p:nvPr/>
          </p:nvSpPr>
          <p:spPr bwMode="auto">
            <a:xfrm>
              <a:off x="2784977" y="5684945"/>
              <a:ext cx="1122412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719244" y="5925638"/>
              <a:ext cx="1253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/>
                <a:t>Фактура</a:t>
              </a:r>
              <a:endParaRPr lang="bg-BG" dirty="0"/>
            </a:p>
          </p:txBody>
        </p:sp>
      </p:grpSp>
      <p:sp>
        <p:nvSpPr>
          <p:cNvPr id="35" name="Curved Up Arrow 34"/>
          <p:cNvSpPr/>
          <p:nvPr/>
        </p:nvSpPr>
        <p:spPr bwMode="auto">
          <a:xfrm rot="1068305">
            <a:off x="1803154" y="6004117"/>
            <a:ext cx="1116124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866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6150163" y="9972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30091" y="0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116632"/>
            <a:ext cx="1681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ЦУ на БАБХ</a:t>
            </a:r>
            <a:endParaRPr lang="bg-BG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372200" y="142350"/>
            <a:ext cx="2069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Дирекция ВМП</a:t>
            </a:r>
            <a:endParaRPr lang="bg-BG" sz="2000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389523" y="866838"/>
            <a:ext cx="2507704" cy="1836204"/>
            <a:chOff x="389523" y="866838"/>
            <a:chExt cx="2507704" cy="1836204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461531" y="866838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9523" y="1226878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/>
                <a:t>4</a:t>
              </a:r>
              <a:r>
                <a:rPr lang="bg-BG" b="1" dirty="0" smtClean="0"/>
                <a:t>. Изпълнителният директор резолира заявлението</a:t>
              </a:r>
              <a:endParaRPr lang="bg-BG" b="1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75216" y="3169320"/>
            <a:ext cx="2507704" cy="1584176"/>
            <a:chOff x="6375216" y="3169320"/>
            <a:chExt cx="2507704" cy="1584176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519232" y="3169320"/>
              <a:ext cx="2232248" cy="158417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5216" y="3457352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/>
                <a:t>6</a:t>
              </a:r>
              <a:r>
                <a:rPr lang="bg-BG" b="1" dirty="0" smtClean="0"/>
                <a:t>. Проверка за административна пълнота</a:t>
              </a:r>
              <a:endParaRPr lang="bg-BG" b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09042" y="3043306"/>
            <a:ext cx="2507704" cy="1836204"/>
            <a:chOff x="409042" y="3043306"/>
            <a:chExt cx="2507704" cy="1836204"/>
          </a:xfrm>
        </p:grpSpPr>
        <p:sp>
          <p:nvSpPr>
            <p:cNvPr id="30" name="Rounded Rectangle 29"/>
            <p:cNvSpPr/>
            <p:nvPr/>
          </p:nvSpPr>
          <p:spPr bwMode="auto">
            <a:xfrm>
              <a:off x="488345" y="3043306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9042" y="3435602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/>
                <a:t>5</a:t>
              </a:r>
              <a:r>
                <a:rPr lang="bg-BG" b="1" dirty="0" smtClean="0"/>
                <a:t>. Изпращане на документите в дирекция ВМП</a:t>
              </a:r>
              <a:endParaRPr lang="bg-BG" b="1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150902" y="2647207"/>
            <a:ext cx="2789250" cy="2039976"/>
            <a:chOff x="3150902" y="2647207"/>
            <a:chExt cx="2789250" cy="2039976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482" y="2647207"/>
              <a:ext cx="1307566" cy="135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Striped Right Arrow 26"/>
            <p:cNvSpPr/>
            <p:nvPr/>
          </p:nvSpPr>
          <p:spPr bwMode="auto">
            <a:xfrm>
              <a:off x="3150902" y="3851573"/>
              <a:ext cx="2789250" cy="466278"/>
            </a:xfrm>
            <a:prstGeom prst="stripedRightArrow">
              <a:avLst>
                <a:gd name="adj1" fmla="val 49999"/>
                <a:gd name="adj2" fmla="val 50000"/>
              </a:avLst>
            </a:prstGeom>
            <a:solidFill>
              <a:srgbClr val="FF8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60497" y="4317851"/>
              <a:ext cx="1438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 smtClean="0"/>
                <a:t>До 1 месец</a:t>
              </a:r>
              <a:endParaRPr lang="bg-BG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794764" y="4687183"/>
            <a:ext cx="1557549" cy="1163274"/>
            <a:chOff x="3794764" y="4687183"/>
            <a:chExt cx="1557549" cy="1163274"/>
          </a:xfrm>
        </p:grpSpPr>
        <p:sp>
          <p:nvSpPr>
            <p:cNvPr id="33" name="Vertical Scroll 32"/>
            <p:cNvSpPr/>
            <p:nvPr/>
          </p:nvSpPr>
          <p:spPr bwMode="auto">
            <a:xfrm>
              <a:off x="3860497" y="4687183"/>
              <a:ext cx="1393561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94764" y="4927876"/>
              <a:ext cx="1557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Заявление</a:t>
              </a:r>
              <a:endParaRPr lang="bg-BG" b="1" dirty="0"/>
            </a:p>
          </p:txBody>
        </p:sp>
      </p:grpSp>
      <p:sp>
        <p:nvSpPr>
          <p:cNvPr id="35" name="Curved Up Arrow 34"/>
          <p:cNvSpPr/>
          <p:nvPr/>
        </p:nvSpPr>
        <p:spPr bwMode="auto">
          <a:xfrm rot="1068305">
            <a:off x="1998709" y="5121694"/>
            <a:ext cx="1870519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Curved Up Arrow 30"/>
          <p:cNvSpPr/>
          <p:nvPr/>
        </p:nvSpPr>
        <p:spPr bwMode="auto">
          <a:xfrm rot="21123336">
            <a:off x="5439956" y="5052340"/>
            <a:ext cx="1870519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20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6150163" y="9972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30091" y="0"/>
            <a:ext cx="2801749" cy="6858000"/>
          </a:xfrm>
          <a:prstGeom prst="rect">
            <a:avLst/>
          </a:prstGeom>
          <a:solidFill>
            <a:srgbClr val="FFEB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116632"/>
            <a:ext cx="1681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ЦУ на БАБХ</a:t>
            </a:r>
            <a:endParaRPr lang="bg-BG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372200" y="142350"/>
            <a:ext cx="2069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smtClean="0"/>
              <a:t>Дирекция ВМП</a:t>
            </a:r>
            <a:endParaRPr lang="bg-BG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389523" y="866838"/>
            <a:ext cx="2507704" cy="1836204"/>
            <a:chOff x="389523" y="866838"/>
            <a:chExt cx="2507704" cy="1836204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461531" y="866838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9523" y="1226878"/>
              <a:ext cx="25077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8. Изпълнителният директор подписва писмото и се изпраща</a:t>
              </a:r>
              <a:endParaRPr lang="bg-BG" b="1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297185" y="938846"/>
            <a:ext cx="2507704" cy="1584176"/>
            <a:chOff x="6297185" y="938846"/>
            <a:chExt cx="2507704" cy="1584176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441201" y="938846"/>
              <a:ext cx="2232248" cy="158417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97185" y="1226878"/>
              <a:ext cx="25077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7. Изготвяне и изпращане на писмо до заявителя за непълноти</a:t>
              </a:r>
              <a:endParaRPr lang="bg-BG" b="1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09042" y="3043306"/>
            <a:ext cx="2507704" cy="1836204"/>
            <a:chOff x="409042" y="3043306"/>
            <a:chExt cx="2507704" cy="1836204"/>
          </a:xfrm>
        </p:grpSpPr>
        <p:sp>
          <p:nvSpPr>
            <p:cNvPr id="30" name="Rounded Rectangle 29"/>
            <p:cNvSpPr/>
            <p:nvPr/>
          </p:nvSpPr>
          <p:spPr bwMode="auto">
            <a:xfrm>
              <a:off x="488345" y="3043306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9042" y="3435602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9. Заявителят предоставя нови документи</a:t>
              </a:r>
              <a:endParaRPr lang="bg-BG" b="1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246348" y="476672"/>
            <a:ext cx="2789250" cy="1778646"/>
            <a:chOff x="3246348" y="476672"/>
            <a:chExt cx="2789250" cy="1778646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3391" y="476672"/>
              <a:ext cx="1442839" cy="1498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Striped Right Arrow 26"/>
            <p:cNvSpPr/>
            <p:nvPr/>
          </p:nvSpPr>
          <p:spPr bwMode="auto">
            <a:xfrm rot="10800000">
              <a:off x="3246348" y="1789040"/>
              <a:ext cx="2789250" cy="466278"/>
            </a:xfrm>
            <a:prstGeom prst="stripedRightArrow">
              <a:avLst>
                <a:gd name="adj1" fmla="val 49999"/>
                <a:gd name="adj2" fmla="val 50000"/>
              </a:avLst>
            </a:prstGeom>
            <a:solidFill>
              <a:srgbClr val="FF8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10861" y="2121405"/>
            <a:ext cx="1557549" cy="1163274"/>
            <a:chOff x="4010861" y="2121405"/>
            <a:chExt cx="1557549" cy="1163274"/>
          </a:xfrm>
        </p:grpSpPr>
        <p:sp>
          <p:nvSpPr>
            <p:cNvPr id="33" name="Vertical Scroll 32"/>
            <p:cNvSpPr/>
            <p:nvPr/>
          </p:nvSpPr>
          <p:spPr bwMode="auto">
            <a:xfrm>
              <a:off x="4010861" y="2121405"/>
              <a:ext cx="1491816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10861" y="2255318"/>
              <a:ext cx="15575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Писмо</a:t>
              </a:r>
              <a:br>
                <a:rPr lang="bg-BG" b="1" dirty="0" smtClean="0"/>
              </a:br>
              <a:r>
                <a:rPr lang="bg-BG" b="1" dirty="0" smtClean="0"/>
                <a:t>за</a:t>
              </a:r>
              <a:br>
                <a:rPr lang="bg-BG" b="1" dirty="0" smtClean="0"/>
              </a:br>
              <a:r>
                <a:rPr lang="bg-BG" b="1" dirty="0" smtClean="0"/>
                <a:t>непълноти</a:t>
              </a:r>
              <a:endParaRPr lang="bg-BG" b="1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9042" y="4925153"/>
            <a:ext cx="2507704" cy="1836204"/>
            <a:chOff x="409042" y="4925153"/>
            <a:chExt cx="2507704" cy="1836204"/>
          </a:xfrm>
        </p:grpSpPr>
        <p:sp>
          <p:nvSpPr>
            <p:cNvPr id="22" name="Rounded Rectangle 21"/>
            <p:cNvSpPr/>
            <p:nvPr/>
          </p:nvSpPr>
          <p:spPr bwMode="auto">
            <a:xfrm>
              <a:off x="488345" y="4925153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042" y="5317449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10. Изпълнителният директор резолира новите документи</a:t>
              </a:r>
              <a:endParaRPr lang="bg-BG" b="1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86035" y="5361321"/>
            <a:ext cx="1557549" cy="1164023"/>
            <a:chOff x="3886035" y="5286576"/>
            <a:chExt cx="1557549" cy="1164023"/>
          </a:xfrm>
        </p:grpSpPr>
        <p:sp>
          <p:nvSpPr>
            <p:cNvPr id="24" name="Vertical Scroll 23"/>
            <p:cNvSpPr/>
            <p:nvPr/>
          </p:nvSpPr>
          <p:spPr bwMode="auto">
            <a:xfrm>
              <a:off x="3951768" y="5286576"/>
              <a:ext cx="1491816" cy="1163274"/>
            </a:xfrm>
            <a:prstGeom prst="verticalScroll">
              <a:avLst/>
            </a:prstGeom>
            <a:solidFill>
              <a:srgbClr val="C4E59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86035" y="5527269"/>
              <a:ext cx="15575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Документи от Заявител</a:t>
              </a:r>
              <a:endParaRPr lang="bg-BG" b="1" dirty="0"/>
            </a:p>
          </p:txBody>
        </p:sp>
      </p:grpSp>
      <p:sp>
        <p:nvSpPr>
          <p:cNvPr id="35" name="Curved Up Arrow 34"/>
          <p:cNvSpPr/>
          <p:nvPr/>
        </p:nvSpPr>
        <p:spPr bwMode="auto">
          <a:xfrm>
            <a:off x="2492966" y="6310178"/>
            <a:ext cx="1870519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97000" y="4925153"/>
            <a:ext cx="2507704" cy="1836204"/>
            <a:chOff x="6397000" y="4925153"/>
            <a:chExt cx="2507704" cy="1836204"/>
          </a:xfrm>
        </p:grpSpPr>
        <p:sp>
          <p:nvSpPr>
            <p:cNvPr id="36" name="Rounded Rectangle 35"/>
            <p:cNvSpPr/>
            <p:nvPr/>
          </p:nvSpPr>
          <p:spPr bwMode="auto">
            <a:xfrm>
              <a:off x="6476303" y="4925153"/>
              <a:ext cx="2376264" cy="1836204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97000" y="5317449"/>
              <a:ext cx="2507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 smtClean="0"/>
                <a:t>11. Обработване</a:t>
              </a:r>
              <a:br>
                <a:rPr lang="bg-BG" b="1" dirty="0" smtClean="0"/>
              </a:br>
              <a:r>
                <a:rPr lang="bg-BG" b="1" dirty="0" smtClean="0"/>
                <a:t>на новите документи</a:t>
              </a:r>
              <a:endParaRPr lang="bg-BG" b="1" dirty="0"/>
            </a:p>
          </p:txBody>
        </p:sp>
      </p:grpSp>
      <p:sp>
        <p:nvSpPr>
          <p:cNvPr id="28" name="Curved Up Arrow 27"/>
          <p:cNvSpPr/>
          <p:nvPr/>
        </p:nvSpPr>
        <p:spPr bwMode="auto">
          <a:xfrm>
            <a:off x="5214903" y="6362955"/>
            <a:ext cx="1870519" cy="432959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urved Left Arrow 1"/>
          <p:cNvSpPr/>
          <p:nvPr/>
        </p:nvSpPr>
        <p:spPr bwMode="auto">
          <a:xfrm rot="4207938">
            <a:off x="5961597" y="2433607"/>
            <a:ext cx="407248" cy="1122002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Curved Left Arrow 37"/>
          <p:cNvSpPr/>
          <p:nvPr/>
        </p:nvSpPr>
        <p:spPr bwMode="auto">
          <a:xfrm rot="6292419">
            <a:off x="3087939" y="2433607"/>
            <a:ext cx="407248" cy="1122002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465447" y="3799341"/>
            <a:ext cx="2789250" cy="1670644"/>
            <a:chOff x="3465447" y="3799341"/>
            <a:chExt cx="2789250" cy="1670644"/>
          </a:xfrm>
        </p:grpSpPr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1027" y="3799341"/>
              <a:ext cx="1307566" cy="1357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Striped Right Arrow 39"/>
            <p:cNvSpPr/>
            <p:nvPr/>
          </p:nvSpPr>
          <p:spPr bwMode="auto">
            <a:xfrm>
              <a:off x="3465447" y="5003707"/>
              <a:ext cx="2789250" cy="466278"/>
            </a:xfrm>
            <a:prstGeom prst="stripedRightArrow">
              <a:avLst>
                <a:gd name="adj1" fmla="val 49999"/>
                <a:gd name="adj2" fmla="val 50000"/>
              </a:avLst>
            </a:prstGeom>
            <a:solidFill>
              <a:srgbClr val="FF8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045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8" grpId="0" animBg="1"/>
      <p:bldP spid="2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827088" y="1736725"/>
            <a:ext cx="7777162" cy="4356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>
              <a:spcBef>
                <a:spcPct val="20000"/>
              </a:spcBef>
            </a:pPr>
            <a:r>
              <a:rPr lang="bg-BG" sz="2400" b="1" dirty="0">
                <a:latin typeface="Times New Roman" pitchFamily="18" charset="0"/>
              </a:rPr>
              <a:t>Текуща ситуация</a:t>
            </a:r>
            <a:endParaRPr lang="en-US" sz="24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1200" b="1" dirty="0">
              <a:latin typeface="Times New Roman" pitchFamily="18" charset="0"/>
            </a:endParaRPr>
          </a:p>
          <a:p>
            <a:pPr marL="273050" indent="-273050"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Администрациите използват </a:t>
            </a:r>
            <a:r>
              <a:rPr lang="bg-BG" sz="2000" b="1" dirty="0" smtClean="0">
                <a:latin typeface="Times New Roman" pitchFamily="18" charset="0"/>
              </a:rPr>
              <a:t>различни </a:t>
            </a:r>
            <a:r>
              <a:rPr lang="bg-BG" sz="2000" b="1" dirty="0">
                <a:latin typeface="Times New Roman" pitchFamily="18" charset="0"/>
              </a:rPr>
              <a:t>подходи за описание и анализ на работните процеси.</a:t>
            </a:r>
          </a:p>
          <a:p>
            <a:pPr marL="273050" indent="-273050"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 smtClean="0">
                <a:latin typeface="Times New Roman" pitchFamily="18" charset="0"/>
              </a:rPr>
              <a:t>Голяма част от дефинираните </a:t>
            </a:r>
            <a:r>
              <a:rPr lang="bg-BG" sz="2000" b="1" dirty="0">
                <a:latin typeface="Times New Roman" pitchFamily="18" charset="0"/>
              </a:rPr>
              <a:t>индикатори за изпълнение не са насочени към подобрение на </a:t>
            </a:r>
            <a:r>
              <a:rPr lang="bg-BG" sz="2000" b="1" dirty="0" smtClean="0">
                <a:latin typeface="Times New Roman" pitchFamily="18" charset="0"/>
              </a:rPr>
              <a:t>процесите </a:t>
            </a:r>
            <a:r>
              <a:rPr lang="bg-BG" sz="2000" b="1" dirty="0">
                <a:latin typeface="Times New Roman" pitchFamily="18" charset="0"/>
              </a:rPr>
              <a:t>по отношение на време, разходи, качество. </a:t>
            </a:r>
          </a:p>
          <a:p>
            <a:pPr marL="273050" indent="-273050"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Понякога се приема допускането, че автоматизиране на процеса означава подобрение на процеса. </a:t>
            </a:r>
          </a:p>
          <a:p>
            <a:pPr marL="273050" indent="-273050"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 smtClean="0">
                <a:latin typeface="Times New Roman" pitchFamily="18" charset="0"/>
              </a:rPr>
              <a:t>Няма утвърдени практики за сравнителен анализ (</a:t>
            </a:r>
            <a:r>
              <a:rPr lang="bg-BG" sz="2000" b="1" dirty="0" err="1" smtClean="0">
                <a:latin typeface="Times New Roman" pitchFamily="18" charset="0"/>
              </a:rPr>
              <a:t>бенчмаркинг</a:t>
            </a:r>
            <a:r>
              <a:rPr lang="bg-BG" sz="2000" b="1" dirty="0" smtClean="0">
                <a:latin typeface="Times New Roman" pitchFamily="18" charset="0"/>
              </a:rPr>
              <a:t>) на </a:t>
            </a:r>
            <a:r>
              <a:rPr lang="bg-BG" sz="2000" b="1" dirty="0">
                <a:latin typeface="Times New Roman" pitchFamily="18" charset="0"/>
              </a:rPr>
              <a:t>процеси между администрациите (например между общини</a:t>
            </a:r>
            <a:r>
              <a:rPr lang="bg-BG" sz="2000" b="1" dirty="0" smtClean="0">
                <a:latin typeface="Times New Roman" pitchFamily="18" charset="0"/>
              </a:rPr>
              <a:t>), който би могъл да спомогне за обмяна на добри практики</a:t>
            </a:r>
            <a:endParaRPr lang="bg-BG" sz="2000" b="1" dirty="0">
              <a:latin typeface="Times New Roman" pitchFamily="18" charset="0"/>
            </a:endParaRPr>
          </a:p>
          <a:p>
            <a:pPr marL="1066800" lvl="1" indent="-533400" algn="l">
              <a:spcBef>
                <a:spcPct val="20000"/>
              </a:spcBef>
              <a:buFontTx/>
              <a:buChar char="–"/>
            </a:pPr>
            <a:endParaRPr lang="bg-BG" sz="1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617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2.bp.blogspot.com/-V_c1vHnouRo/T9dog_qgb3I/AAAAAAAAHU0/FuZ1x1llLl0/s1600/inconsistenc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7472"/>
            <a:ext cx="4177635" cy="229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827088" y="1268760"/>
            <a:ext cx="7777162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>
              <a:spcBef>
                <a:spcPct val="20000"/>
              </a:spcBef>
            </a:pPr>
            <a:r>
              <a:rPr lang="bg-BG" sz="2400" b="1" dirty="0">
                <a:latin typeface="Times New Roman" pitchFamily="18" charset="0"/>
              </a:rPr>
              <a:t>Индикатори, които администрациите използват</a:t>
            </a:r>
          </a:p>
          <a:p>
            <a:pPr>
              <a:spcBef>
                <a:spcPct val="20000"/>
              </a:spcBef>
            </a:pPr>
            <a:r>
              <a:rPr lang="bg-BG" sz="2400" b="1" dirty="0">
                <a:latin typeface="Times New Roman" pitchFamily="18" charset="0"/>
              </a:rPr>
              <a:t> </a:t>
            </a:r>
          </a:p>
          <a:p>
            <a:pPr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Брой анализирани услуги.</a:t>
            </a:r>
          </a:p>
          <a:p>
            <a:pPr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Брой оптимизирани процеси.</a:t>
            </a:r>
          </a:p>
          <a:p>
            <a:pPr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Брой карти на процеси.</a:t>
            </a:r>
          </a:p>
          <a:p>
            <a:pPr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Брой готови анализи на вътрешни правила.</a:t>
            </a:r>
          </a:p>
          <a:p>
            <a:pPr algn="l">
              <a:spcBef>
                <a:spcPct val="20000"/>
              </a:spcBef>
              <a:buFont typeface="Arial" charset="0"/>
              <a:buChar char="•"/>
            </a:pPr>
            <a:r>
              <a:rPr lang="bg-BG" sz="2000" b="1" dirty="0">
                <a:latin typeface="Times New Roman" pitchFamily="18" charset="0"/>
              </a:rPr>
              <a:t>Списък с идентифицирани сфери и звена за подобрение.</a:t>
            </a:r>
          </a:p>
        </p:txBody>
      </p:sp>
    </p:spTree>
    <p:extLst>
      <p:ext uri="{BB962C8B-B14F-4D97-AF65-F5344CB8AC3E}">
        <p14:creationId xmlns:p14="http://schemas.microsoft.com/office/powerpoint/2010/main" val="34711412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67544" y="1412776"/>
            <a:ext cx="8136706" cy="421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7" rIns="91433" bIns="45717"/>
          <a:lstStyle/>
          <a:p>
            <a:pPr>
              <a:spcBef>
                <a:spcPct val="20000"/>
              </a:spcBef>
              <a:defRPr/>
            </a:pPr>
            <a:r>
              <a:rPr lang="bg-BG" sz="2800" b="1" dirty="0">
                <a:latin typeface="Cambria" pitchFamily="18" charset="0"/>
                <a:cs typeface="Times New Roman" pitchFamily="18" charset="0"/>
              </a:rPr>
              <a:t>Процес</a:t>
            </a:r>
          </a:p>
          <a:p>
            <a:pPr algn="l">
              <a:spcBef>
                <a:spcPct val="20000"/>
              </a:spcBef>
              <a:defRPr/>
            </a:pPr>
            <a:r>
              <a:rPr lang="bg-BG" sz="2000" b="1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“Ако не можете да опишете като процес това,</a:t>
            </a:r>
            <a:r>
              <a:rPr lang="en-US" sz="2000" b="1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bg-BG" sz="2000" b="1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което правите, вероятно не знаете какво точно правите.” (</a:t>
            </a:r>
            <a:r>
              <a:rPr lang="bg-BG" sz="2000" b="1" i="1" dirty="0" err="1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Деминг</a:t>
            </a:r>
            <a:r>
              <a:rPr lang="bg-BG" sz="2000" b="1" i="1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)</a:t>
            </a:r>
            <a:endParaRPr lang="en-US" sz="2000" b="1" i="1" dirty="0">
              <a:solidFill>
                <a:srgbClr val="FF0000"/>
              </a:solidFill>
              <a:latin typeface="Cambria" pitchFamily="18" charset="0"/>
              <a:cs typeface="Times New Roman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bg-BG" b="1" dirty="0"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lnSpc>
                <a:spcPct val="75000"/>
              </a:lnSpc>
              <a:spcBef>
                <a:spcPct val="20000"/>
              </a:spcBef>
              <a:defRPr/>
            </a:pPr>
            <a:r>
              <a:rPr lang="bg-BG" sz="24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Структурирана последователност </a:t>
            </a:r>
            <a:r>
              <a:rPr lang="bg-BG" sz="24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от </a:t>
            </a:r>
            <a:r>
              <a:rPr lang="bg-BG" sz="24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дейности </a:t>
            </a:r>
            <a:r>
              <a:rPr lang="bg-BG" sz="24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в точно определен ред, които преобразуват </a:t>
            </a:r>
            <a:r>
              <a:rPr lang="bg-BG" sz="24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входящите потоци в резултати (услуги) </a:t>
            </a:r>
            <a:r>
              <a:rPr lang="bg-BG" sz="24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в съответствие с предварително установени </a:t>
            </a:r>
            <a:r>
              <a:rPr lang="bg-BG" sz="24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правила</a:t>
            </a:r>
            <a:r>
              <a:rPr lang="bg-BG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.</a:t>
            </a:r>
            <a:endParaRPr lang="bg-BG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>
              <a:lnSpc>
                <a:spcPct val="95000"/>
              </a:lnSpc>
              <a:spcBef>
                <a:spcPct val="70000"/>
              </a:spcBef>
              <a:buClr>
                <a:srgbClr val="FF0000"/>
              </a:buClr>
              <a:buSzPct val="75000"/>
              <a:defRPr/>
            </a:pPr>
            <a:r>
              <a:rPr lang="bg-BG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itchFamily="18" charset="0"/>
                <a:cs typeface="Times New Roman" pitchFamily="18" charset="0"/>
              </a:rPr>
              <a:t>Характеристики на процесите:</a:t>
            </a:r>
          </a:p>
          <a:p>
            <a:pPr algn="l">
              <a:lnSpc>
                <a:spcPct val="95000"/>
              </a:lnSpc>
              <a:spcBef>
                <a:spcPct val="70000"/>
              </a:spcBef>
              <a:buClr>
                <a:srgbClr val="800000"/>
              </a:buClr>
              <a:buFont typeface="Wingdings" pitchFamily="2" charset="2"/>
              <a:buAutoNum type="arabicPeriod"/>
              <a:defRPr/>
            </a:pPr>
            <a:r>
              <a:rPr lang="bg-BG" dirty="0">
                <a:solidFill>
                  <a:srgbClr val="800000"/>
                </a:solidFill>
                <a:latin typeface="Cambria" pitchFamily="18" charset="0"/>
                <a:cs typeface="Times New Roman" pitchFamily="18" charset="0"/>
              </a:rPr>
              <a:t>Процесите (резултатите) притежават клиенти.</a:t>
            </a:r>
          </a:p>
          <a:p>
            <a:pPr algn="l">
              <a:lnSpc>
                <a:spcPct val="95000"/>
              </a:lnSpc>
              <a:spcBef>
                <a:spcPct val="70000"/>
              </a:spcBef>
              <a:buClr>
                <a:srgbClr val="800000"/>
              </a:buClr>
              <a:buFont typeface="Wingdings" pitchFamily="2" charset="2"/>
              <a:buAutoNum type="arabicPeriod"/>
              <a:defRPr/>
            </a:pPr>
            <a:r>
              <a:rPr lang="bg-BG" dirty="0">
                <a:solidFill>
                  <a:srgbClr val="800000"/>
                </a:solidFill>
                <a:latin typeface="Cambria" pitchFamily="18" charset="0"/>
                <a:cs typeface="Times New Roman" pitchFamily="18" charset="0"/>
              </a:rPr>
              <a:t>Процесите преминават през организационните звена.</a:t>
            </a:r>
          </a:p>
          <a:p>
            <a:pPr algn="l" eaLnBrk="0" hangingPunct="0">
              <a:lnSpc>
                <a:spcPct val="75000"/>
              </a:lnSpc>
              <a:spcBef>
                <a:spcPct val="20000"/>
              </a:spcBef>
              <a:defRPr/>
            </a:pPr>
            <a:endParaRPr lang="bg-BG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>
              <a:spcBef>
                <a:spcPct val="20000"/>
              </a:spcBef>
              <a:defRPr/>
            </a:pPr>
            <a:endParaRPr lang="bg-BG" b="1" dirty="0">
              <a:latin typeface="Cambria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bg-BG" sz="2800" b="1" dirty="0">
              <a:latin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693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340768"/>
            <a:ext cx="6552728" cy="4543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6389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11</a:t>
            </a:fld>
            <a:endParaRPr lang="bg-BG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933056"/>
            <a:ext cx="2208262" cy="2103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25" y="3645024"/>
            <a:ext cx="2376264" cy="2369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 bwMode="auto">
          <a:xfrm>
            <a:off x="833397" y="2132856"/>
            <a:ext cx="2880320" cy="172819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0224" y="2535287"/>
            <a:ext cx="2966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 smtClean="0"/>
              <a:t>Методология </a:t>
            </a:r>
          </a:p>
          <a:p>
            <a:r>
              <a:rPr lang="bg-BG" b="1" dirty="0" smtClean="0"/>
              <a:t>за описание и анализ на работните процеси</a:t>
            </a:r>
            <a:endParaRPr lang="bg-BG" b="1" dirty="0"/>
          </a:p>
        </p:txBody>
      </p:sp>
      <p:sp>
        <p:nvSpPr>
          <p:cNvPr id="8" name="Rounded Rectangle 7"/>
          <p:cNvSpPr/>
          <p:nvPr/>
        </p:nvSpPr>
        <p:spPr bwMode="auto">
          <a:xfrm>
            <a:off x="5076056" y="2132856"/>
            <a:ext cx="2880320" cy="172819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32883" y="2474893"/>
            <a:ext cx="2966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 smtClean="0"/>
              <a:t>Наръчник </a:t>
            </a:r>
          </a:p>
          <a:p>
            <a:r>
              <a:rPr lang="bg-BG" b="1" dirty="0" smtClean="0"/>
              <a:t>за прилагане на методологията</a:t>
            </a:r>
            <a:endParaRPr lang="bg-BG" b="1" dirty="0"/>
          </a:p>
        </p:txBody>
      </p:sp>
      <p:sp>
        <p:nvSpPr>
          <p:cNvPr id="10" name="Right Arrow 9"/>
          <p:cNvSpPr/>
          <p:nvPr/>
        </p:nvSpPr>
        <p:spPr bwMode="auto">
          <a:xfrm>
            <a:off x="3800062" y="2760312"/>
            <a:ext cx="1275994" cy="50405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827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980728"/>
            <a:ext cx="8445822" cy="1143000"/>
          </a:xfrm>
        </p:spPr>
        <p:txBody>
          <a:bodyPr/>
          <a:lstStyle/>
          <a:p>
            <a:r>
              <a:rPr lang="bg-BG" dirty="0" smtClean="0">
                <a:latin typeface="Cambria" pitchFamily="18" charset="0"/>
              </a:rPr>
              <a:t>Методология за описание и анализ на работните процеси</a:t>
            </a:r>
            <a:endParaRPr lang="bg-BG" dirty="0">
              <a:latin typeface="Cambria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12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179512" y="2132856"/>
            <a:ext cx="592234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itchFamily="34" charset="0"/>
              <a:buChar char="•"/>
            </a:pPr>
            <a:r>
              <a:rPr lang="ru-RU" sz="2000" dirty="0" smtClean="0">
                <a:latin typeface="Cambria" pitchFamily="18" charset="0"/>
              </a:rPr>
              <a:t>Да </a:t>
            </a:r>
            <a:r>
              <a:rPr lang="ru-RU" sz="2000" dirty="0">
                <a:latin typeface="Cambria" pitchFamily="18" charset="0"/>
              </a:rPr>
              <a:t>се създаде единен, унифициран подход за прилагане принципите на процесно-ориентираното управление в структурите на държавната администрация на централно и местно </a:t>
            </a:r>
            <a:r>
              <a:rPr lang="ru-RU" sz="2000" dirty="0" smtClean="0">
                <a:latin typeface="Cambria" pitchFamily="18" charset="0"/>
              </a:rPr>
              <a:t>във </a:t>
            </a:r>
            <a:r>
              <a:rPr lang="ru-RU" sz="2000" dirty="0">
                <a:latin typeface="Cambria" pitchFamily="18" charset="0"/>
              </a:rPr>
              <a:t>връзка с предоставянето на административни услуги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endParaRPr lang="ru-RU" sz="2000" dirty="0">
              <a:latin typeface="Cambria" pitchFamily="18" charset="0"/>
            </a:endParaRP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000" dirty="0">
                <a:latin typeface="Cambria" pitchFamily="18" charset="0"/>
              </a:rPr>
              <a:t>С</a:t>
            </a:r>
            <a:r>
              <a:rPr lang="ru-RU" sz="2000" dirty="0" smtClean="0">
                <a:latin typeface="Cambria" pitchFamily="18" charset="0"/>
              </a:rPr>
              <a:t>ъдържа </a:t>
            </a:r>
            <a:r>
              <a:rPr lang="ru-RU" sz="2000" dirty="0">
                <a:latin typeface="Cambria" pitchFamily="18" charset="0"/>
              </a:rPr>
              <a:t>логическа последователност от етапи, стъпки, предпоставки, методи и техники, резултати, приложими при извършване на подобрение </a:t>
            </a:r>
            <a:r>
              <a:rPr lang="ru-RU" sz="2000" dirty="0" smtClean="0">
                <a:latin typeface="Cambria" pitchFamily="18" charset="0"/>
              </a:rPr>
              <a:t>на процесите. 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60" y="1916832"/>
            <a:ext cx="2930767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91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auto">
          <a:xfrm>
            <a:off x="4860032" y="2962539"/>
            <a:ext cx="4104456" cy="2137464"/>
          </a:xfrm>
          <a:prstGeom prst="roundRect">
            <a:avLst/>
          </a:prstGeom>
          <a:solidFill>
            <a:srgbClr val="CFDDE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252384" y="3717032"/>
            <a:ext cx="4967688" cy="2304256"/>
          </a:xfrm>
          <a:prstGeom prst="roundRect">
            <a:avLst>
              <a:gd name="adj" fmla="val 10998"/>
            </a:avLst>
          </a:prstGeom>
          <a:solidFill>
            <a:srgbClr val="CFDDE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67544" y="1999381"/>
            <a:ext cx="8229600" cy="4525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bg-BG" sz="2000" dirty="0" smtClean="0">
                <a:latin typeface="Cambria" pitchFamily="18" charset="0"/>
              </a:rPr>
              <a:t>Съдържа шаблони на документи</a:t>
            </a:r>
          </a:p>
          <a:p>
            <a:pPr>
              <a:buFont typeface="Arial" pitchFamily="34" charset="0"/>
              <a:buChar char="•"/>
            </a:pPr>
            <a:r>
              <a:rPr lang="bg-BG" sz="2000" dirty="0" smtClean="0">
                <a:latin typeface="Cambria" pitchFamily="18" charset="0"/>
              </a:rPr>
              <a:t>Предлага указания за изпълнение на отделни стъпки</a:t>
            </a:r>
          </a:p>
          <a:p>
            <a:pPr>
              <a:buFont typeface="Arial" pitchFamily="34" charset="0"/>
              <a:buChar char="•"/>
            </a:pPr>
            <a:r>
              <a:rPr lang="bg-BG" sz="2000" dirty="0" smtClean="0">
                <a:latin typeface="Cambria" pitchFamily="18" charset="0"/>
              </a:rPr>
              <a:t>Съдържа критерии за оценка</a:t>
            </a:r>
          </a:p>
          <a:p>
            <a:pPr>
              <a:buFont typeface="Arial" pitchFamily="34" charset="0"/>
              <a:buChar char="•"/>
            </a:pPr>
            <a:endParaRPr lang="bg-BG" sz="2000" dirty="0">
              <a:latin typeface="Cambria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043508" y="1124545"/>
            <a:ext cx="7200900" cy="5762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0" indent="0" algn="ctr">
              <a:spcBef>
                <a:spcPct val="0"/>
              </a:spcBef>
              <a:buNone/>
            </a:pPr>
            <a:r>
              <a:rPr lang="bg-BG" b="1" dirty="0">
                <a:solidFill>
                  <a:srgbClr val="1E4649"/>
                </a:solidFill>
                <a:latin typeface="Cambria" pitchFamily="18" charset="0"/>
                <a:ea typeface="+mj-ea"/>
                <a:cs typeface="Times New Roman" pitchFamily="18" charset="0"/>
              </a:rPr>
              <a:t>Наръчник за прилагане на методологията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49" y="3861048"/>
            <a:ext cx="4703558" cy="227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976704"/>
            <a:ext cx="3528392" cy="22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64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730742" y="1124744"/>
            <a:ext cx="7880135" cy="5112568"/>
            <a:chOff x="827584" y="1268760"/>
            <a:chExt cx="7632848" cy="4824536"/>
          </a:xfrm>
        </p:grpSpPr>
        <p:graphicFrame>
          <p:nvGraphicFramePr>
            <p:cNvPr id="12" name="Diagram 11"/>
            <p:cNvGraphicFramePr/>
            <p:nvPr>
              <p:extLst>
                <p:ext uri="{D42A27DB-BD31-4B8C-83A1-F6EECF244321}">
                  <p14:modId xmlns:p14="http://schemas.microsoft.com/office/powerpoint/2010/main" val="841542367"/>
                </p:ext>
              </p:extLst>
            </p:nvPr>
          </p:nvGraphicFramePr>
          <p:xfrm>
            <a:off x="827584" y="1268760"/>
            <a:ext cx="7632848" cy="48245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3" name="Rectangle 12"/>
            <p:cNvSpPr/>
            <p:nvPr/>
          </p:nvSpPr>
          <p:spPr>
            <a:xfrm>
              <a:off x="3060266" y="3284984"/>
              <a:ext cx="3239926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bg-BG" sz="2000" b="1" i="0" u="none" strike="noStrike" kern="0" cap="all" spc="0" normalizeH="0" baseline="0" noProof="0" dirty="0" smtClean="0">
                  <a:ln w="0"/>
                  <a:gradFill flip="none">
                    <a:gsLst>
                      <a:gs pos="0">
                        <a:srgbClr val="4F81BD">
                          <a:tint val="75000"/>
                          <a:shade val="75000"/>
                          <a:satMod val="170000"/>
                        </a:srgbClr>
                      </a:gs>
                      <a:gs pos="49000">
                        <a:srgbClr val="4F81BD">
                          <a:tint val="88000"/>
                          <a:shade val="65000"/>
                          <a:satMod val="172000"/>
                        </a:srgbClr>
                      </a:gs>
                      <a:gs pos="50000">
                        <a:srgbClr val="4F81BD">
                          <a:shade val="65000"/>
                          <a:satMod val="130000"/>
                        </a:srgbClr>
                      </a:gs>
                      <a:gs pos="92000">
                        <a:srgbClr val="4F81BD">
                          <a:shade val="50000"/>
                          <a:satMod val="120000"/>
                        </a:srgbClr>
                      </a:gs>
                      <a:gs pos="100000">
                        <a:srgbClr val="4F81BD">
                          <a:shade val="48000"/>
                          <a:satMod val="120000"/>
                        </a:srgbClr>
                      </a:gs>
                    </a:gsLst>
                    <a:lin ang="5400000"/>
                  </a:gradFill>
                  <a:effectLst>
                    <a:reflection blurRad="12700" stA="50000" endPos="50000" dist="5000" dir="5400000" sy="-100000" rotWithShape="0"/>
                  </a:effectLst>
                  <a:uLnTx/>
                  <a:uFillTx/>
                </a:rPr>
                <a:t>Непрекъснато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bg-BG" sz="2000" b="1" i="0" u="none" strike="noStrike" kern="0" cap="all" spc="0" normalizeH="0" baseline="0" noProof="0" dirty="0" smtClean="0">
                  <a:ln w="0"/>
                  <a:gradFill flip="none">
                    <a:gsLst>
                      <a:gs pos="0">
                        <a:srgbClr val="4F81BD">
                          <a:tint val="75000"/>
                          <a:shade val="75000"/>
                          <a:satMod val="170000"/>
                        </a:srgbClr>
                      </a:gs>
                      <a:gs pos="49000">
                        <a:srgbClr val="4F81BD">
                          <a:tint val="88000"/>
                          <a:shade val="65000"/>
                          <a:satMod val="172000"/>
                        </a:srgbClr>
                      </a:gs>
                      <a:gs pos="50000">
                        <a:srgbClr val="4F81BD">
                          <a:shade val="65000"/>
                          <a:satMod val="130000"/>
                        </a:srgbClr>
                      </a:gs>
                      <a:gs pos="92000">
                        <a:srgbClr val="4F81BD">
                          <a:shade val="50000"/>
                          <a:satMod val="120000"/>
                        </a:srgbClr>
                      </a:gs>
                      <a:gs pos="100000">
                        <a:srgbClr val="4F81BD">
                          <a:shade val="48000"/>
                          <a:satMod val="120000"/>
                        </a:srgbClr>
                      </a:gs>
                    </a:gsLst>
                    <a:lin ang="5400000"/>
                  </a:gradFill>
                  <a:effectLst>
                    <a:reflection blurRad="12700" stA="50000" endPos="50000" dist="5000" dir="5400000" sy="-100000" rotWithShape="0"/>
                  </a:effectLst>
                  <a:uLnTx/>
                  <a:uFillTx/>
                </a:rPr>
                <a:t>усъвършенстване</a:t>
              </a:r>
              <a:endParaRPr kumimoji="0" lang="en-US" sz="2000" b="1" i="0" u="none" strike="noStrike" kern="0" cap="all" spc="0" normalizeH="0" baseline="0" noProof="0" dirty="0" smtClean="0">
                <a:ln w="0"/>
                <a:gradFill flip="none">
                  <a:gsLst>
                    <a:gs pos="0">
                      <a:srgbClr val="4F81BD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4F81BD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4F81BD">
                        <a:shade val="65000"/>
                        <a:satMod val="130000"/>
                      </a:srgbClr>
                    </a:gs>
                    <a:gs pos="92000">
                      <a:srgbClr val="4F81BD">
                        <a:shade val="50000"/>
                        <a:satMod val="120000"/>
                      </a:srgbClr>
                    </a:gs>
                    <a:gs pos="100000">
                      <a:srgbClr val="4F81BD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464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15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611560" y="2120076"/>
            <a:ext cx="82089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indent="-914400" algn="l">
              <a:spcAft>
                <a:spcPts val="1200"/>
              </a:spcAft>
            </a:pPr>
            <a:r>
              <a:rPr lang="bg-BG" sz="2000" b="1" dirty="0" smtClean="0">
                <a:latin typeface="Cambria" pitchFamily="18" charset="0"/>
              </a:rPr>
              <a:t>Цел:</a:t>
            </a:r>
            <a:endParaRPr lang="bg-BG" sz="2000" b="1" dirty="0">
              <a:latin typeface="Cambria" pitchFamily="18" charset="0"/>
            </a:endParaRPr>
          </a:p>
          <a:p>
            <a:pPr lvl="1" algn="l"/>
            <a:r>
              <a:rPr lang="bg-BG" sz="2000" dirty="0" smtClean="0">
                <a:latin typeface="Cambria" pitchFamily="18" charset="0"/>
              </a:rPr>
              <a:t>Извършване на </a:t>
            </a:r>
            <a:r>
              <a:rPr lang="bg-BG" sz="2000" dirty="0">
                <a:latin typeface="Cambria" pitchFamily="18" charset="0"/>
              </a:rPr>
              <a:t>подготвителни дейности за стартиране на работата по описание и анализ на работните процеси. </a:t>
            </a:r>
          </a:p>
          <a:p>
            <a:pPr lvl="1" algn="l">
              <a:buClr>
                <a:srgbClr val="C00000"/>
              </a:buClr>
            </a:pPr>
            <a:endParaRPr lang="bg-BG" sz="2000" dirty="0">
              <a:latin typeface="Cambria" pitchFamily="18" charset="0"/>
            </a:endParaRPr>
          </a:p>
          <a:p>
            <a:pPr lvl="2" indent="-914400" algn="l">
              <a:spcAft>
                <a:spcPts val="1200"/>
              </a:spcAft>
            </a:pPr>
            <a:r>
              <a:rPr lang="bg-BG" sz="2000" b="1" dirty="0">
                <a:latin typeface="Cambria" pitchFamily="18" charset="0"/>
              </a:rPr>
              <a:t>Основни </a:t>
            </a:r>
            <a:r>
              <a:rPr lang="bg-BG" sz="2000" b="1" dirty="0" smtClean="0">
                <a:latin typeface="Cambria" pitchFamily="18" charset="0"/>
              </a:rPr>
              <a:t>стъпки:</a:t>
            </a:r>
            <a:endParaRPr lang="bg-BG" sz="2000" b="1" dirty="0">
              <a:latin typeface="Cambria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latin typeface="Cambria" pitchFamily="18" charset="0"/>
              </a:rPr>
              <a:t>Сформиране </a:t>
            </a:r>
            <a:r>
              <a:rPr lang="bg-BG" sz="2000" dirty="0">
                <a:latin typeface="Cambria" pitchFamily="18" charset="0"/>
              </a:rPr>
              <a:t>на работен екип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Методическа подготовка, обучение на ръководството и служителите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Избор на софтуерни средства за моделиране на работните процеси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latin typeface="Cambria" pitchFamily="18" charset="0"/>
              </a:rPr>
              <a:t>Информиране и ангажиране </a:t>
            </a:r>
            <a:r>
              <a:rPr lang="bg-BG" sz="2000" dirty="0">
                <a:latin typeface="Cambria" pitchFamily="18" charset="0"/>
              </a:rPr>
              <a:t>на </a:t>
            </a:r>
            <a:r>
              <a:rPr lang="bg-BG" sz="2000" dirty="0" smtClean="0">
                <a:latin typeface="Cambria" pitchFamily="18" charset="0"/>
              </a:rPr>
              <a:t>служителите</a:t>
            </a:r>
            <a:endParaRPr lang="bg-BG" sz="2000" dirty="0">
              <a:latin typeface="Cambria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27088" y="1268760"/>
            <a:ext cx="7777162" cy="75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>
              <a:spcBef>
                <a:spcPct val="20000"/>
              </a:spcBef>
            </a:pPr>
            <a:r>
              <a:rPr lang="bg-BG" sz="2400" b="1" dirty="0" smtClean="0">
                <a:latin typeface="Cambria" pitchFamily="18" charset="0"/>
                <a:cs typeface="Times New Roman" pitchFamily="18" charset="0"/>
              </a:rPr>
              <a:t>ЕТАП </a:t>
            </a:r>
            <a:r>
              <a:rPr lang="en-US" sz="2400" b="1" dirty="0" smtClean="0">
                <a:latin typeface="Cambria" pitchFamily="18" charset="0"/>
                <a:cs typeface="Times New Roman" pitchFamily="18" charset="0"/>
              </a:rPr>
              <a:t>1: </a:t>
            </a:r>
            <a:r>
              <a:rPr lang="bg-BG" sz="2400" b="1" dirty="0" smtClean="0">
                <a:latin typeface="Cambria" pitchFamily="18" charset="0"/>
                <a:cs typeface="Times New Roman" pitchFamily="18" charset="0"/>
              </a:rPr>
              <a:t>Подготовка </a:t>
            </a:r>
            <a:r>
              <a:rPr lang="bg-BG" sz="2400" b="1" dirty="0">
                <a:latin typeface="Cambria" pitchFamily="18" charset="0"/>
                <a:cs typeface="Times New Roman" pitchFamily="18" charset="0"/>
              </a:rPr>
              <a:t>за изпълнение на </a:t>
            </a:r>
            <a:r>
              <a:rPr lang="bg-BG" sz="2400" b="1" dirty="0" smtClean="0">
                <a:latin typeface="Cambria" pitchFamily="18" charset="0"/>
                <a:cs typeface="Times New Roman" pitchFamily="18" charset="0"/>
              </a:rPr>
              <a:t>дейностите по описание и анализ</a:t>
            </a:r>
            <a:endParaRPr lang="bg-BG" sz="2400" b="1" dirty="0"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spcBef>
                <a:spcPct val="20000"/>
              </a:spcBef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4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96752"/>
            <a:ext cx="851783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457200" lvl="1"/>
            <a: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  <a:cs typeface="Times New Roman" pitchFamily="18" charset="0"/>
              </a:rPr>
              <a:t>ЕТАП </a:t>
            </a:r>
            <a:r>
              <a:rPr lang="en-US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  <a:cs typeface="Times New Roman" pitchFamily="18" charset="0"/>
              </a:rPr>
              <a:t>2: </a:t>
            </a:r>
            <a: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  <a:cs typeface="Times New Roman" pitchFamily="18" charset="0"/>
              </a:rPr>
              <a:t>Анализ </a:t>
            </a:r>
            <a:r>
              <a:rPr lang="bg-BG" sz="2400" i="0" kern="1200" dirty="0">
                <a:solidFill>
                  <a:schemeClr val="tx1"/>
                </a:solidFill>
                <a:latin typeface="Cambria" pitchFamily="18" charset="0"/>
                <a:ea typeface="+mn-ea"/>
                <a:cs typeface="Times New Roman" pitchFamily="18" charset="0"/>
              </a:rPr>
              <a:t>на потребностите на администрацията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16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971600" y="2492896"/>
            <a:ext cx="784887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indent="-914400" algn="l"/>
            <a:r>
              <a:rPr lang="bg-BG" sz="2000" b="1" dirty="0" smtClean="0">
                <a:latin typeface="Cambria" pitchFamily="18" charset="0"/>
              </a:rPr>
              <a:t>Цел:</a:t>
            </a:r>
            <a:endParaRPr lang="bg-BG" sz="2000" b="1" dirty="0">
              <a:latin typeface="Cambria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latin typeface="Cambria" pitchFamily="18" charset="0"/>
              </a:rPr>
              <a:t>Дефиниране на </a:t>
            </a:r>
            <a:r>
              <a:rPr lang="bg-BG" sz="2000" dirty="0">
                <a:latin typeface="Cambria" pitchFamily="18" charset="0"/>
              </a:rPr>
              <a:t>проблемите и потребностите, на които администрацията търси решение.</a:t>
            </a:r>
          </a:p>
          <a:p>
            <a:pPr lvl="2" indent="-914400" algn="l"/>
            <a:endParaRPr lang="en-US" sz="2000" b="1" dirty="0" smtClean="0">
              <a:latin typeface="Cambria" pitchFamily="18" charset="0"/>
            </a:endParaRPr>
          </a:p>
          <a:p>
            <a:pPr lvl="2" indent="-914400" algn="l"/>
            <a:r>
              <a:rPr lang="bg-BG" sz="2000" b="1" dirty="0" smtClean="0">
                <a:latin typeface="Cambria" pitchFamily="18" charset="0"/>
              </a:rPr>
              <a:t>Основни стъпки:</a:t>
            </a:r>
            <a:endParaRPr lang="bg-BG" sz="2000" b="1" dirty="0">
              <a:latin typeface="Cambria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latin typeface="Cambria" pitchFamily="18" charset="0"/>
              </a:rPr>
              <a:t>Дефиниране </a:t>
            </a:r>
            <a:r>
              <a:rPr lang="bg-BG" sz="2000" dirty="0">
                <a:latin typeface="Cambria" pitchFamily="18" charset="0"/>
              </a:rPr>
              <a:t>на проблеми и потребности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Избор на работни процеси за описание и анализ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Дефиниране на очаквани ползи и резултати</a:t>
            </a:r>
          </a:p>
        </p:txBody>
      </p:sp>
    </p:spTree>
    <p:extLst>
      <p:ext uri="{BB962C8B-B14F-4D97-AF65-F5344CB8AC3E}">
        <p14:creationId xmlns:p14="http://schemas.microsoft.com/office/powerpoint/2010/main" val="17902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17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827584" y="2276872"/>
            <a:ext cx="777686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bg-BG" sz="2000" dirty="0" smtClean="0">
                <a:latin typeface="Cambria" pitchFamily="18" charset="0"/>
              </a:rPr>
              <a:t>Цел: </a:t>
            </a:r>
            <a:r>
              <a:rPr lang="bg-BG" dirty="0" smtClean="0">
                <a:latin typeface="Cambria" pitchFamily="18" charset="0"/>
              </a:rPr>
              <a:t>Моделирането </a:t>
            </a:r>
            <a:r>
              <a:rPr lang="bg-BG" dirty="0">
                <a:latin typeface="Cambria" pitchFamily="18" charset="0"/>
              </a:rPr>
              <a:t>на работните процеси в текущо състояние е насочено към решаването на следните управленски въпроси в администрацията: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Изграждане на общо разбиране за начина на изпълнение на дейностите в администрацията;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Изграждане на система от знания за това как функционира администрацията;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Идентифициране на практиките за изпълнение на един и същ процес в различни подразделения на дадена администрация;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Развиване на култура на системно и </a:t>
            </a:r>
            <a:r>
              <a:rPr lang="bg-BG" dirty="0" err="1">
                <a:latin typeface="Cambria" pitchFamily="18" charset="0"/>
              </a:rPr>
              <a:t>процесно</a:t>
            </a:r>
            <a:r>
              <a:rPr lang="bg-BG" dirty="0">
                <a:latin typeface="Cambria" pitchFamily="18" charset="0"/>
              </a:rPr>
              <a:t> мислене в администрацията;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Въоръжаване на ръководителите със средства за търсене на подобрения в процесите.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9750" y="1196752"/>
            <a:ext cx="8229600" cy="11430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ЕТАП </a:t>
            </a:r>
            <a:r>
              <a:rPr lang="en-US" kern="1200" dirty="0" smtClean="0">
                <a:solidFill>
                  <a:schemeClr val="tx1"/>
                </a:solidFill>
                <a:latin typeface="Cambria" pitchFamily="18" charset="0"/>
              </a:rPr>
              <a:t>3: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Описание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в текущо състояние</a:t>
            </a:r>
          </a:p>
        </p:txBody>
      </p:sp>
    </p:spTree>
    <p:extLst>
      <p:ext uri="{BB962C8B-B14F-4D97-AF65-F5344CB8AC3E}">
        <p14:creationId xmlns:p14="http://schemas.microsoft.com/office/powerpoint/2010/main" val="152319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052736"/>
            <a:ext cx="8229600" cy="11430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Нива на процесите в организацията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18</a:t>
            </a:fld>
            <a:endParaRPr lang="bg-BG"/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5400600" cy="3800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249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827088" y="1556792"/>
            <a:ext cx="7777162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609600" lvl="1" indent="-609600" eaLnBrk="0" hangingPunct="0">
              <a:spcBef>
                <a:spcPct val="20000"/>
              </a:spcBef>
              <a:defRPr/>
            </a:pPr>
            <a:r>
              <a:rPr lang="bg-BG" sz="2400" b="1" dirty="0">
                <a:latin typeface="Cambria" pitchFamily="18" charset="0"/>
                <a:cs typeface="Times New Roman" pitchFamily="18" charset="0"/>
              </a:rPr>
              <a:t>Идентифициране на бизнес процес</a:t>
            </a:r>
            <a:endParaRPr lang="en-US" sz="2400" b="1" dirty="0">
              <a:latin typeface="Cambria" pitchFamily="18" charset="0"/>
              <a:cs typeface="Times New Roman" pitchFamily="18" charset="0"/>
            </a:endParaRPr>
          </a:p>
          <a:p>
            <a:pPr marL="609600" indent="-609600">
              <a:spcBef>
                <a:spcPct val="20000"/>
              </a:spcBef>
            </a:pPr>
            <a:endParaRPr lang="bg-BG" sz="1200" b="1" dirty="0">
              <a:latin typeface="Cambria" pitchFamily="18" charset="0"/>
              <a:cs typeface="Times New Roman" pitchFamily="18" charset="0"/>
            </a:endParaRP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Каква е целта на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Кои са клиентите на процеса и какви са техните очаквания?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Какъв е крайния резултат от изпълнението на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Кое събитие стартира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Коя е първата стъпка от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Коя е последната стъпка от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Какви връзки/интерфейси има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Какви ресурси са необходими за изпълнението на процеса?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Какви са предпоставките за успешното изпълнение на процеса?</a:t>
            </a: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</a:pPr>
            <a:endParaRPr lang="bg-BG" sz="1400" b="1" dirty="0">
              <a:latin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631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Подходи за описание на работен процес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20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971600" y="2348880"/>
            <a:ext cx="75608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l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400" dirty="0" smtClean="0">
                <a:latin typeface="Cambria" pitchFamily="18" charset="0"/>
              </a:rPr>
              <a:t>В текстов формат</a:t>
            </a:r>
          </a:p>
          <a:p>
            <a:pPr marL="285750" lvl="0" indent="-285750" algn="l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400" dirty="0" smtClean="0">
                <a:latin typeface="Cambria" pitchFamily="18" charset="0"/>
              </a:rPr>
              <a:t>Таблично описание</a:t>
            </a:r>
            <a:endParaRPr lang="bg-BG" sz="2400" dirty="0">
              <a:latin typeface="Cambria" pitchFamily="18" charset="0"/>
            </a:endParaRPr>
          </a:p>
          <a:p>
            <a:pPr marL="285750" lvl="0" indent="-285750" algn="l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400" dirty="0" smtClean="0">
                <a:latin typeface="Cambria" pitchFamily="18" charset="0"/>
              </a:rPr>
              <a:t>Графично, чрез диаграми</a:t>
            </a:r>
            <a:endParaRPr lang="bg-BG" sz="24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5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196752"/>
            <a:ext cx="8229600" cy="432048"/>
          </a:xfrm>
        </p:spPr>
        <p:txBody>
          <a:bodyPr/>
          <a:lstStyle/>
          <a:p>
            <a:r>
              <a:rPr lang="bg-BG" dirty="0" smtClean="0">
                <a:solidFill>
                  <a:schemeClr val="tx1"/>
                </a:solidFill>
                <a:latin typeface="Cambria" pitchFamily="18" charset="0"/>
              </a:rPr>
              <a:t>Таблично описание на работен процес</a:t>
            </a:r>
            <a:endParaRPr lang="bg-BG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21</a:t>
            </a:fld>
            <a:endParaRPr lang="bg-BG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390499"/>
              </p:ext>
            </p:extLst>
          </p:nvPr>
        </p:nvGraphicFramePr>
        <p:xfrm>
          <a:off x="251520" y="1700808"/>
          <a:ext cx="8229600" cy="1016508"/>
        </p:xfrm>
        <a:graphic>
          <a:graphicData uri="http://schemas.openxmlformats.org/drawingml/2006/table">
            <a:tbl>
              <a:tblPr firstRow="1" firstCol="1" bandRow="1"/>
              <a:tblGrid>
                <a:gridCol w="452570"/>
                <a:gridCol w="1329931"/>
                <a:gridCol w="1315463"/>
                <a:gridCol w="1315463"/>
                <a:gridCol w="1289420"/>
                <a:gridCol w="1300994"/>
                <a:gridCol w="1225759"/>
              </a:tblGrid>
              <a:tr h="3833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No</a:t>
                      </a:r>
                      <a:endParaRPr lang="bg-BG" sz="1200" dirty="0">
                        <a:effectLst/>
                        <a:latin typeface="Cambria"/>
                        <a:ea typeface="PMingLiU"/>
                        <a:cs typeface="Times New Roman"/>
                      </a:endParaRP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Наименование на стъпка в процеса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Входяща информация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Изходяща информация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Резултат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Отговорен служител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2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Софтуерно приложение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1916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1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2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1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2503" marR="6250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41855"/>
              </p:ext>
            </p:extLst>
          </p:nvPr>
        </p:nvGraphicFramePr>
        <p:xfrm>
          <a:off x="323528" y="2852936"/>
          <a:ext cx="8070215" cy="3084576"/>
        </p:xfrm>
        <a:graphic>
          <a:graphicData uri="http://schemas.openxmlformats.org/drawingml/2006/table">
            <a:tbl>
              <a:tblPr firstRow="1" firstCol="1" bandRow="1"/>
              <a:tblGrid>
                <a:gridCol w="5832648"/>
                <a:gridCol w="2237567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Характеристика на процеса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Описание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Собственик на процеса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Правно основание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Условия за стартиране на процеса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Резултат от изпълнението на процеса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Връзки с други процеси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Наименования на вътрешно-административни услуги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>
                          <a:effectLst/>
                          <a:latin typeface="Cambria"/>
                          <a:ea typeface="PMingLiU"/>
                          <a:cs typeface="Times New Roman"/>
                        </a:rPr>
                        <a:t>Срок за изпълнение на процеса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Канал за заявяване  на услугата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bg-BG" sz="1600" dirty="0">
                        <a:effectLst/>
                        <a:latin typeface="Cambria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Канал за предоставяне резултата от услугата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bg-BG" sz="1600" dirty="0">
                        <a:effectLst/>
                        <a:latin typeface="Cambria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dirty="0">
                          <a:effectLst/>
                          <a:latin typeface="Cambria"/>
                          <a:ea typeface="PMingLiU"/>
                          <a:cs typeface="Times New Roman"/>
                        </a:rPr>
                        <a:t>Цени и такси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bg-BG" sz="1600" dirty="0">
                        <a:effectLst/>
                        <a:latin typeface="Cambria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30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827088" y="1196752"/>
            <a:ext cx="777716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609600" lvl="1" indent="-609600" eaLnBrk="0" hangingPunct="0">
              <a:spcBef>
                <a:spcPct val="20000"/>
              </a:spcBef>
              <a:defRPr/>
            </a:pPr>
            <a:r>
              <a:rPr lang="bg-BG" sz="2400" b="1" dirty="0" smtClean="0">
                <a:latin typeface="Cambria" pitchFamily="18" charset="0"/>
                <a:cs typeface="Times New Roman" pitchFamily="18" charset="0"/>
              </a:rPr>
              <a:t>Как да моделираме процесите?</a:t>
            </a:r>
            <a:endParaRPr lang="en-US" sz="2400" b="1" dirty="0">
              <a:latin typeface="Cambria" pitchFamily="18" charset="0"/>
              <a:cs typeface="Times New Roman" pitchFamily="18" charset="0"/>
            </a:endParaRPr>
          </a:p>
          <a:p>
            <a:pPr marL="609600" indent="-609600">
              <a:spcBef>
                <a:spcPct val="20000"/>
              </a:spcBef>
            </a:pPr>
            <a:endParaRPr lang="bg-BG" sz="1200" b="1" dirty="0">
              <a:latin typeface="Cambria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78" b="50000"/>
          <a:stretch/>
        </p:blipFill>
        <p:spPr>
          <a:xfrm>
            <a:off x="-3894" y="1844824"/>
            <a:ext cx="5351913" cy="255524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21342" r="45159" b="5958"/>
          <a:stretch/>
        </p:blipFill>
        <p:spPr bwMode="auto">
          <a:xfrm>
            <a:off x="1835696" y="3580879"/>
            <a:ext cx="3312021" cy="265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C:\Users\bborchev\AppData\Local\Microsoft\Windows\Temporary Internet Files\Content.Outlook\YN029Q07\EPC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764" y="1853952"/>
            <a:ext cx="3292236" cy="407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445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827088" y="1268760"/>
            <a:ext cx="7777162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7" rIns="91433" bIns="45717"/>
          <a:lstStyle/>
          <a:p>
            <a:pPr marL="609600" lvl="1" indent="-609600" eaLnBrk="0" hangingPunct="0">
              <a:spcBef>
                <a:spcPct val="20000"/>
              </a:spcBef>
              <a:defRPr/>
            </a:pPr>
            <a:r>
              <a:rPr lang="bg-BG" sz="2400" b="1" dirty="0" smtClean="0">
                <a:latin typeface="Cambria" pitchFamily="18" charset="0"/>
                <a:cs typeface="Times New Roman" pitchFamily="18" charset="0"/>
              </a:rPr>
              <a:t>Нотацията </a:t>
            </a:r>
            <a:r>
              <a:rPr lang="en-US" sz="2400" b="1" dirty="0" smtClean="0">
                <a:latin typeface="Cambria" pitchFamily="18" charset="0"/>
                <a:cs typeface="Times New Roman" pitchFamily="18" charset="0"/>
              </a:rPr>
              <a:t>BPMN </a:t>
            </a:r>
            <a:endParaRPr lang="bg-BG" sz="2400" b="1" dirty="0">
              <a:latin typeface="Cambria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bg-BG" sz="1200" b="1" dirty="0">
              <a:latin typeface="Cambria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itchFamily="18" charset="0"/>
                <a:cs typeface="Times New Roman" pitchFamily="18" charset="0"/>
              </a:rPr>
              <a:t>BPMN</a:t>
            </a:r>
            <a:r>
              <a:rPr lang="bg-BG" b="1" dirty="0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itchFamily="18" charset="0"/>
                <a:cs typeface="Times New Roman" pitchFamily="18" charset="0"/>
              </a:rPr>
              <a:t> =</a:t>
            </a:r>
            <a:r>
              <a:rPr lang="en-US" b="1" dirty="0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itchFamily="18" charset="0"/>
                <a:cs typeface="Times New Roman" pitchFamily="18" charset="0"/>
              </a:rPr>
              <a:t> Business Process Model and Notation</a:t>
            </a:r>
            <a:endParaRPr lang="bg-BG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mbria" pitchFamily="18" charset="0"/>
              <a:cs typeface="Times New Roman" pitchFamily="18" charset="0"/>
            </a:endParaRPr>
          </a:p>
          <a:p>
            <a:pPr>
              <a:defRPr/>
            </a:pPr>
            <a:endParaRPr lang="bg-BG" sz="12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mbria" pitchFamily="18" charset="0"/>
              <a:cs typeface="Times New Roman" pitchFamily="18" charset="0"/>
            </a:endParaRP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Разработен от организацията </a:t>
            </a:r>
            <a:r>
              <a:rPr lang="en-US" dirty="0">
                <a:latin typeface="Cambria" pitchFamily="18" charset="0"/>
              </a:rPr>
              <a:t>BPMI (Business Process Management Initiative;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Развива се от</a:t>
            </a:r>
            <a:r>
              <a:rPr lang="en-US" dirty="0">
                <a:latin typeface="Cambria" pitchFamily="18" charset="0"/>
              </a:rPr>
              <a:t> Object Management Group</a:t>
            </a:r>
            <a:r>
              <a:rPr lang="bg-BG" dirty="0">
                <a:latin typeface="Cambria" pitchFamily="18" charset="0"/>
              </a:rPr>
              <a:t> </a:t>
            </a:r>
            <a:r>
              <a:rPr lang="en-US" dirty="0">
                <a:latin typeface="Cambria" pitchFamily="18" charset="0"/>
              </a:rPr>
              <a:t>(OMG),</a:t>
            </a:r>
            <a:r>
              <a:rPr lang="bg-BG" dirty="0">
                <a:latin typeface="Cambria" pitchFamily="18" charset="0"/>
              </a:rPr>
              <a:t> с подкрепата на </a:t>
            </a:r>
            <a:r>
              <a:rPr lang="en-US" dirty="0">
                <a:latin typeface="Cambria" pitchFamily="18" charset="0"/>
              </a:rPr>
              <a:t>IBM, ORACLE, SAP </a:t>
            </a:r>
            <a:r>
              <a:rPr lang="bg-BG" dirty="0">
                <a:latin typeface="Cambria" pitchFamily="18" charset="0"/>
              </a:rPr>
              <a:t>и много други;</a:t>
            </a:r>
            <a:endParaRPr lang="en-US" dirty="0">
              <a:latin typeface="Cambria" pitchFamily="18" charset="0"/>
            </a:endParaRP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Основната</a:t>
            </a:r>
            <a:r>
              <a:rPr lang="ru-RU" dirty="0">
                <a:latin typeface="Cambria" pitchFamily="18" charset="0"/>
              </a:rPr>
              <a:t> цел</a:t>
            </a:r>
            <a:r>
              <a:rPr lang="en-US" dirty="0">
                <a:latin typeface="Cambria" pitchFamily="18" charset="0"/>
              </a:rPr>
              <a:t> </a:t>
            </a:r>
            <a:r>
              <a:rPr lang="bg-BG" dirty="0">
                <a:latin typeface="Cambria" pitchFamily="18" charset="0"/>
              </a:rPr>
              <a:t>на </a:t>
            </a:r>
            <a:r>
              <a:rPr lang="en-US" dirty="0">
                <a:latin typeface="Cambria" pitchFamily="18" charset="0"/>
              </a:rPr>
              <a:t>BPMN</a:t>
            </a:r>
            <a:r>
              <a:rPr lang="bg-BG" dirty="0">
                <a:latin typeface="Cambria" pitchFamily="18" charset="0"/>
              </a:rPr>
              <a:t> </a:t>
            </a:r>
            <a:r>
              <a:rPr lang="en-US" dirty="0">
                <a:latin typeface="Cambria" pitchFamily="18" charset="0"/>
              </a:rPr>
              <a:t>- </a:t>
            </a:r>
            <a:r>
              <a:rPr lang="ru-RU" dirty="0">
                <a:latin typeface="Cambria" pitchFamily="18" charset="0"/>
              </a:rPr>
              <a:t> </a:t>
            </a:r>
            <a:r>
              <a:rPr lang="bg-BG" dirty="0">
                <a:latin typeface="Cambria" pitchFamily="18" charset="0"/>
              </a:rPr>
              <a:t>нотация, която е еднакво добре разбираема практически за всички потребители – бизнес аналитиците софтуерните специалисти и ръководителите;</a:t>
            </a:r>
          </a:p>
          <a:p>
            <a:pPr marL="285750" indent="-285750" algn="l" eaLnBrk="0" hangingPunct="0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Друга основна цел на BPMN е да се създадат изпълними дефиниции за автоматизиране на процесите.</a:t>
            </a:r>
          </a:p>
          <a:p>
            <a:pPr>
              <a:spcBef>
                <a:spcPct val="20000"/>
              </a:spcBef>
              <a:defRPr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51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55650" y="1268760"/>
            <a:ext cx="7777163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609600" lvl="1" indent="-609600" eaLnBrk="0" hangingPunct="0">
              <a:spcBef>
                <a:spcPct val="20000"/>
              </a:spcBef>
              <a:defRPr/>
            </a:pPr>
            <a:r>
              <a:rPr lang="bg-BG" sz="2400" b="1" dirty="0">
                <a:latin typeface="Cambria" pitchFamily="18" charset="0"/>
                <a:cs typeface="Times New Roman" pitchFamily="18" charset="0"/>
              </a:rPr>
              <a:t>Графични обекти в BPMN при моделиране на бизнес процеси </a:t>
            </a:r>
          </a:p>
          <a:p>
            <a:pPr marL="609600" indent="-609600"/>
            <a:endParaRPr lang="bg-BG" sz="1200" b="1" dirty="0">
              <a:latin typeface="Cambria" pitchFamily="18" charset="0"/>
              <a:cs typeface="Times New Roman" pitchFamily="18" charset="0"/>
            </a:endParaRPr>
          </a:p>
          <a:p>
            <a:pPr marL="609600" indent="-609600"/>
            <a:endParaRPr lang="bg-BG" sz="1600" b="1" dirty="0">
              <a:latin typeface="Cambria" pitchFamily="18" charset="0"/>
              <a:cs typeface="Times New Roman" pitchFamily="18" charset="0"/>
            </a:endParaRPr>
          </a:p>
          <a:p>
            <a:pPr marL="609600" indent="-609600"/>
            <a:r>
              <a:rPr lang="bg-BG" dirty="0">
                <a:latin typeface="Cambria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5365" name="Picture 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063" y="4941888"/>
            <a:ext cx="12239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4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113" y="5445125"/>
            <a:ext cx="122396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5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713" y="5732463"/>
            <a:ext cx="11509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55"/>
          <p:cNvSpPr>
            <a:spLocks noChangeArrowheads="1"/>
          </p:cNvSpPr>
          <p:nvPr/>
        </p:nvSpPr>
        <p:spPr bwMode="auto">
          <a:xfrm>
            <a:off x="1433513" y="2566988"/>
            <a:ext cx="1025525" cy="581025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bg-BG" sz="1600" b="1" dirty="0"/>
              <a:t>Дейност</a:t>
            </a:r>
          </a:p>
          <a:p>
            <a:pPr>
              <a:defRPr/>
            </a:pPr>
            <a:r>
              <a:rPr lang="bg-BG" sz="1600" dirty="0"/>
              <a:t>(</a:t>
            </a:r>
            <a:r>
              <a:rPr lang="bg-BG" sz="1600" dirty="0" err="1"/>
              <a:t>Activity</a:t>
            </a:r>
            <a:r>
              <a:rPr lang="bg-BG" sz="1600" dirty="0"/>
              <a:t>)</a:t>
            </a:r>
            <a:r>
              <a:rPr lang="bg-BG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2" name="Rectangle 56"/>
          <p:cNvSpPr>
            <a:spLocks noChangeArrowheads="1"/>
          </p:cNvSpPr>
          <p:nvPr/>
        </p:nvSpPr>
        <p:spPr bwMode="auto">
          <a:xfrm>
            <a:off x="1381125" y="3548063"/>
            <a:ext cx="1066800" cy="581025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bg-BG" sz="1600" b="1"/>
              <a:t>Събитие</a:t>
            </a:r>
          </a:p>
          <a:p>
            <a:pPr>
              <a:defRPr/>
            </a:pPr>
            <a:r>
              <a:rPr lang="bg-BG" sz="1600"/>
              <a:t>(Event)</a:t>
            </a:r>
            <a:r>
              <a:rPr lang="bg-BG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5370" name="Rectangle 60"/>
          <p:cNvSpPr>
            <a:spLocks noChangeArrowheads="1"/>
          </p:cNvSpPr>
          <p:nvPr/>
        </p:nvSpPr>
        <p:spPr bwMode="auto">
          <a:xfrm>
            <a:off x="5745163" y="4437063"/>
            <a:ext cx="2252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bg-BG"/>
              <a:t>Свързващи обекти </a:t>
            </a:r>
          </a:p>
        </p:txBody>
      </p:sp>
      <p:sp>
        <p:nvSpPr>
          <p:cNvPr id="14" name="Rectangle 61"/>
          <p:cNvSpPr>
            <a:spLocks noChangeArrowheads="1"/>
          </p:cNvSpPr>
          <p:nvPr/>
        </p:nvSpPr>
        <p:spPr bwMode="auto">
          <a:xfrm>
            <a:off x="830263" y="4602163"/>
            <a:ext cx="2435225" cy="58420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bg-BG" sz="1600" b="1"/>
              <a:t>Разклонение/Решение</a:t>
            </a:r>
          </a:p>
          <a:p>
            <a:pPr>
              <a:defRPr/>
            </a:pPr>
            <a:r>
              <a:rPr lang="bg-BG" sz="1600"/>
              <a:t>(Gateway)</a:t>
            </a:r>
            <a:r>
              <a:rPr lang="bg-BG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5" name="Rectangle 62"/>
          <p:cNvSpPr>
            <a:spLocks noChangeArrowheads="1"/>
          </p:cNvSpPr>
          <p:nvPr/>
        </p:nvSpPr>
        <p:spPr bwMode="auto">
          <a:xfrm>
            <a:off x="5299075" y="4797425"/>
            <a:ext cx="1719263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bg-BG" sz="1600" b="1" dirty="0" err="1"/>
              <a:t>Sequence</a:t>
            </a:r>
            <a:r>
              <a:rPr lang="bg-BG" sz="1600" b="1" dirty="0"/>
              <a:t> </a:t>
            </a:r>
            <a:r>
              <a:rPr lang="bg-BG" sz="1600" b="1" dirty="0" err="1"/>
              <a:t>Flow</a:t>
            </a:r>
            <a:r>
              <a:rPr lang="bg-BG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6" name="Rectangle 63"/>
          <p:cNvSpPr>
            <a:spLocks noChangeArrowheads="1"/>
          </p:cNvSpPr>
          <p:nvPr/>
        </p:nvSpPr>
        <p:spPr bwMode="auto">
          <a:xfrm>
            <a:off x="5432425" y="5300663"/>
            <a:ext cx="1619250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0" b="1" dirty="0"/>
              <a:t>Message Flow</a:t>
            </a:r>
            <a:r>
              <a:rPr lang="bg-BG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7" name="Rectangle 64"/>
          <p:cNvSpPr>
            <a:spLocks noChangeArrowheads="1"/>
          </p:cNvSpPr>
          <p:nvPr/>
        </p:nvSpPr>
        <p:spPr bwMode="auto">
          <a:xfrm>
            <a:off x="5678488" y="5732463"/>
            <a:ext cx="1392237" cy="33655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0" b="1" dirty="0"/>
              <a:t>Association</a:t>
            </a:r>
            <a:r>
              <a:rPr lang="bg-BG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18" name="Line 65"/>
          <p:cNvSpPr>
            <a:spLocks noChangeShapeType="1"/>
          </p:cNvSpPr>
          <p:nvPr/>
        </p:nvSpPr>
        <p:spPr bwMode="auto">
          <a:xfrm flipH="1">
            <a:off x="4859338" y="2276475"/>
            <a:ext cx="0" cy="3816350"/>
          </a:xfrm>
          <a:prstGeom prst="line">
            <a:avLst/>
          </a:prstGeom>
          <a:noFill/>
          <a:ln w="76200" cmpd="tri">
            <a:solidFill>
              <a:srgbClr val="005C00"/>
            </a:solidFill>
            <a:round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bg-BG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76" name="Text Box 15"/>
          <p:cNvSpPr txBox="1">
            <a:spLocks noChangeArrowheads="1"/>
          </p:cNvSpPr>
          <p:nvPr/>
        </p:nvSpPr>
        <p:spPr bwMode="auto">
          <a:xfrm>
            <a:off x="1444625" y="5516563"/>
            <a:ext cx="13843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600" b="1"/>
              <a:t>Съобщение</a:t>
            </a:r>
          </a:p>
        </p:txBody>
      </p:sp>
      <p:pic>
        <p:nvPicPr>
          <p:cNvPr id="15377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3" y="3446463"/>
            <a:ext cx="24574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8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2312988"/>
            <a:ext cx="14859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9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00" y="4275138"/>
            <a:ext cx="7048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0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00" y="5391150"/>
            <a:ext cx="1658938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1" name="Text Box 13"/>
          <p:cNvSpPr txBox="1">
            <a:spLocks noChangeArrowheads="1"/>
          </p:cNvSpPr>
          <p:nvPr/>
        </p:nvSpPr>
        <p:spPr bwMode="auto">
          <a:xfrm>
            <a:off x="5592763" y="2860675"/>
            <a:ext cx="13589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600" b="1"/>
              <a:t>Данни</a:t>
            </a:r>
          </a:p>
          <a:p>
            <a:pPr eaLnBrk="1" hangingPunct="1"/>
            <a:r>
              <a:rPr lang="en-US" sz="1600"/>
              <a:t>(Data object)</a:t>
            </a:r>
            <a:endParaRPr lang="bg-BG" sz="1600"/>
          </a:p>
        </p:txBody>
      </p:sp>
      <p:pic>
        <p:nvPicPr>
          <p:cNvPr id="15382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2163763"/>
            <a:ext cx="781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3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713" y="3298825"/>
            <a:ext cx="15335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7443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92696"/>
            <a:ext cx="8229600" cy="1143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  <a:t>Нотация тип „диаграма </a:t>
            </a:r>
            <a:r>
              <a:rPr lang="bg-BG" sz="2400" i="0" kern="1200" dirty="0">
                <a:solidFill>
                  <a:schemeClr val="tx1"/>
                </a:solidFill>
                <a:latin typeface="Cambria" pitchFamily="18" charset="0"/>
                <a:ea typeface="+mn-ea"/>
              </a:rPr>
              <a:t>на добавена </a:t>
            </a:r>
            <a: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  <a:t>стойност“</a:t>
            </a:r>
            <a:endParaRPr lang="bg-BG" sz="2400" i="0" kern="1200" dirty="0">
              <a:solidFill>
                <a:schemeClr val="tx1"/>
              </a:solidFill>
              <a:latin typeface="Cambria" pitchFamily="18" charset="0"/>
              <a:ea typeface="+mn-ea"/>
            </a:endParaRPr>
          </a:p>
        </p:txBody>
      </p:sp>
      <p:sp>
        <p:nvSpPr>
          <p:cNvPr id="47108" name="Text Box 9"/>
          <p:cNvSpPr txBox="1">
            <a:spLocks noChangeArrowheads="1"/>
          </p:cNvSpPr>
          <p:nvPr/>
        </p:nvSpPr>
        <p:spPr bwMode="auto">
          <a:xfrm>
            <a:off x="467544" y="1556792"/>
            <a:ext cx="8065145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179388"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6213" algn="l"/>
                <a:tab pos="265113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lvl="1" indent="-285750" algn="l" eaLnBrk="0" hangingPunct="0"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Използва се за моделиране на процеси с високо ниво на </a:t>
            </a:r>
            <a:r>
              <a:rPr lang="bg-BG" dirty="0" smtClean="0">
                <a:latin typeface="Cambria" pitchFamily="18" charset="0"/>
              </a:rPr>
              <a:t>абстракция</a:t>
            </a:r>
            <a:endParaRPr lang="en-US" dirty="0" smtClean="0">
              <a:latin typeface="Cambria" pitchFamily="18" charset="0"/>
            </a:endParaRPr>
          </a:p>
          <a:p>
            <a:pPr marL="285750" lvl="1" indent="-285750" algn="l" eaLnBrk="0" hangingPunct="0">
              <a:buClr>
                <a:srgbClr val="C00000"/>
              </a:buClr>
              <a:buFont typeface="Wingdings" pitchFamily="2" charset="2"/>
              <a:buChar char="Ø"/>
              <a:defRPr/>
            </a:pPr>
            <a:endParaRPr lang="bg-BG" dirty="0">
              <a:latin typeface="Cambria" pitchFamily="18" charset="0"/>
            </a:endParaRPr>
          </a:p>
          <a:p>
            <a:pPr marL="285750" lvl="1" indent="-285750" algn="l" eaLnBrk="0" hangingPunct="0"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bg-BG" dirty="0">
                <a:latin typeface="Cambria" pitchFamily="18" charset="0"/>
              </a:rPr>
              <a:t>Описва цялостния процес по създаването на стойност за </a:t>
            </a:r>
            <a:r>
              <a:rPr lang="bg-BG" dirty="0" smtClean="0">
                <a:latin typeface="Cambria" pitchFamily="18" charset="0"/>
              </a:rPr>
              <a:t>клиента </a:t>
            </a:r>
            <a:r>
              <a:rPr lang="bg-BG" dirty="0">
                <a:latin typeface="Cambria" pitchFamily="18" charset="0"/>
              </a:rPr>
              <a:t>/ администрацията</a:t>
            </a:r>
          </a:p>
          <a:p>
            <a:pPr lvl="1" algn="l" eaLnBrk="1" hangingPunct="1">
              <a:buClr>
                <a:srgbClr val="FF0000"/>
              </a:buClr>
              <a:buFont typeface="Wingdings" pitchFamily="2" charset="2"/>
              <a:buChar char="u"/>
            </a:pPr>
            <a:endParaRPr kumimoji="1" lang="bg-BG" sz="1800" dirty="0">
              <a:solidFill>
                <a:schemeClr val="bg2"/>
              </a:solidFill>
            </a:endParaRPr>
          </a:p>
        </p:txBody>
      </p:sp>
      <p:sp>
        <p:nvSpPr>
          <p:cNvPr id="47113" name="Text Box 4"/>
          <p:cNvSpPr txBox="1">
            <a:spLocks noChangeArrowheads="1"/>
          </p:cNvSpPr>
          <p:nvPr/>
        </p:nvSpPr>
        <p:spPr bwMode="auto">
          <a:xfrm>
            <a:off x="675787" y="3618200"/>
            <a:ext cx="33364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 dirty="0">
                <a:solidFill>
                  <a:srgbClr val="005400"/>
                </a:solidFill>
                <a:latin typeface="Cambria" pitchFamily="18" charset="0"/>
              </a:rPr>
              <a:t>Основни графични </a:t>
            </a:r>
            <a:r>
              <a:rPr lang="bg-BG" dirty="0" smtClean="0">
                <a:solidFill>
                  <a:srgbClr val="005400"/>
                </a:solidFill>
                <a:latin typeface="Cambria" pitchFamily="18" charset="0"/>
              </a:rPr>
              <a:t>обекти</a:t>
            </a:r>
            <a:r>
              <a:rPr lang="en-US" dirty="0" smtClean="0">
                <a:solidFill>
                  <a:srgbClr val="005400"/>
                </a:solidFill>
                <a:latin typeface="Cambria" pitchFamily="18" charset="0"/>
              </a:rPr>
              <a:t>:</a:t>
            </a:r>
            <a:endParaRPr lang="bg-BG" dirty="0">
              <a:solidFill>
                <a:srgbClr val="005400"/>
              </a:solidFill>
              <a:latin typeface="Cambria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01008"/>
            <a:ext cx="1525556" cy="65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" y="4221088"/>
            <a:ext cx="72104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55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bg-BG" sz="2400" i="0" kern="1200" dirty="0">
                <a:solidFill>
                  <a:schemeClr val="tx1"/>
                </a:solidFill>
                <a:latin typeface="Cambria" pitchFamily="18" charset="0"/>
                <a:ea typeface="+mn-ea"/>
              </a:rPr>
              <a:t>Пример</a:t>
            </a:r>
          </a:p>
        </p:txBody>
      </p:sp>
      <p:pic>
        <p:nvPicPr>
          <p:cNvPr id="5123" name="Picture 3" descr="C:\Users\bborchev\AppData\Local\Microsoft\Windows\Temporary Internet Files\Content.Outlook\YN029Q07\VAD (2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3246"/>
            <a:ext cx="9144000" cy="239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64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908720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  <a:t>Нотация ЕРС </a:t>
            </a:r>
            <a:br>
              <a:rPr lang="bg-BG" sz="2400" i="0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</a:b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  <a:t>(</a:t>
            </a:r>
            <a:r>
              <a:rPr lang="en-US" kern="1200" dirty="0" smtClean="0">
                <a:solidFill>
                  <a:schemeClr val="tx1"/>
                </a:solidFill>
                <a:latin typeface="Cambria" pitchFamily="18" charset="0"/>
                <a:ea typeface="+mn-ea"/>
              </a:rPr>
              <a:t>Event-driven Process Chain)</a:t>
            </a:r>
            <a:endParaRPr lang="bg-BG" sz="2400" i="0" kern="1200" dirty="0">
              <a:solidFill>
                <a:schemeClr val="tx1"/>
              </a:solidFill>
              <a:latin typeface="Cambria" pitchFamily="18" charset="0"/>
              <a:ea typeface="+mn-ea"/>
            </a:endParaRPr>
          </a:p>
        </p:txBody>
      </p:sp>
      <p:sp>
        <p:nvSpPr>
          <p:cNvPr id="48132" name="Text Box 5"/>
          <p:cNvSpPr txBox="1">
            <a:spLocks noChangeArrowheads="1"/>
          </p:cNvSpPr>
          <p:nvPr/>
        </p:nvSpPr>
        <p:spPr bwMode="auto">
          <a:xfrm>
            <a:off x="158750" y="2304364"/>
            <a:ext cx="3279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 dirty="0">
                <a:solidFill>
                  <a:srgbClr val="005400"/>
                </a:solidFill>
                <a:latin typeface="Cambria" pitchFamily="18" charset="0"/>
              </a:rPr>
              <a:t>Основни графични обекти</a:t>
            </a:r>
          </a:p>
        </p:txBody>
      </p:sp>
      <p:sp>
        <p:nvSpPr>
          <p:cNvPr id="48134" name="Text Box 71"/>
          <p:cNvSpPr txBox="1">
            <a:spLocks noChangeArrowheads="1"/>
          </p:cNvSpPr>
          <p:nvPr/>
        </p:nvSpPr>
        <p:spPr bwMode="auto">
          <a:xfrm>
            <a:off x="291114" y="4528963"/>
            <a:ext cx="10278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 sz="1600" dirty="0">
                <a:latin typeface="Cambria" pitchFamily="18" charset="0"/>
              </a:rPr>
              <a:t>Функция</a:t>
            </a:r>
          </a:p>
        </p:txBody>
      </p:sp>
      <p:sp>
        <p:nvSpPr>
          <p:cNvPr id="48135" name="Text Box 72"/>
          <p:cNvSpPr txBox="1">
            <a:spLocks noChangeArrowheads="1"/>
          </p:cNvSpPr>
          <p:nvPr/>
        </p:nvSpPr>
        <p:spPr bwMode="auto">
          <a:xfrm>
            <a:off x="468198" y="3028774"/>
            <a:ext cx="1008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 sz="1600">
                <a:latin typeface="Cambria" pitchFamily="18" charset="0"/>
              </a:rPr>
              <a:t>Събитие</a:t>
            </a:r>
          </a:p>
        </p:txBody>
      </p:sp>
      <p:sp>
        <p:nvSpPr>
          <p:cNvPr id="48136" name="Text Box 73"/>
          <p:cNvSpPr txBox="1">
            <a:spLocks noChangeArrowheads="1"/>
          </p:cNvSpPr>
          <p:nvPr/>
        </p:nvSpPr>
        <p:spPr bwMode="auto">
          <a:xfrm>
            <a:off x="5940152" y="2304364"/>
            <a:ext cx="2684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 dirty="0">
                <a:solidFill>
                  <a:srgbClr val="005400"/>
                </a:solidFill>
                <a:latin typeface="Cambria" pitchFamily="18" charset="0"/>
              </a:rPr>
              <a:t>Логически</a:t>
            </a:r>
            <a:r>
              <a:rPr lang="bg-BG" sz="1800" dirty="0">
                <a:solidFill>
                  <a:schemeClr val="bg2"/>
                </a:solidFill>
                <a:latin typeface="Cambria" pitchFamily="18" charset="0"/>
              </a:rPr>
              <a:t> </a:t>
            </a:r>
            <a:r>
              <a:rPr lang="bg-BG" dirty="0">
                <a:solidFill>
                  <a:srgbClr val="005400"/>
                </a:solidFill>
                <a:latin typeface="Cambria" pitchFamily="18" charset="0"/>
              </a:rPr>
              <a:t>оператори</a:t>
            </a:r>
          </a:p>
        </p:txBody>
      </p:sp>
      <p:pic>
        <p:nvPicPr>
          <p:cNvPr id="48137" name="Picture 8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138" y="3212629"/>
            <a:ext cx="5762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8" name="Picture 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138" y="4036541"/>
            <a:ext cx="56515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9" name="Picture 7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138" y="4836641"/>
            <a:ext cx="5762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6369" name="Rectangle 81"/>
          <p:cNvSpPr>
            <a:spLocks noChangeArrowheads="1"/>
          </p:cNvSpPr>
          <p:nvPr/>
        </p:nvSpPr>
        <p:spPr bwMode="auto">
          <a:xfrm>
            <a:off x="2498608" y="4666560"/>
            <a:ext cx="184731" cy="369332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bg-BG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396373" name="Rectangle 85"/>
          <p:cNvSpPr>
            <a:spLocks noChangeArrowheads="1"/>
          </p:cNvSpPr>
          <p:nvPr/>
        </p:nvSpPr>
        <p:spPr bwMode="auto">
          <a:xfrm>
            <a:off x="2498608" y="4666560"/>
            <a:ext cx="184731" cy="369332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bg-BG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396377" name="Rectangle 89"/>
          <p:cNvSpPr>
            <a:spLocks noChangeArrowheads="1"/>
          </p:cNvSpPr>
          <p:nvPr/>
        </p:nvSpPr>
        <p:spPr bwMode="auto">
          <a:xfrm>
            <a:off x="2498608" y="4666560"/>
            <a:ext cx="184731" cy="369332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bg-BG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48143" name="Text Box 196"/>
          <p:cNvSpPr txBox="1">
            <a:spLocks noChangeArrowheads="1"/>
          </p:cNvSpPr>
          <p:nvPr/>
        </p:nvSpPr>
        <p:spPr bwMode="auto">
          <a:xfrm>
            <a:off x="5068269" y="3285654"/>
            <a:ext cx="1244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>
                <a:latin typeface="Cambria" pitchFamily="18" charset="0"/>
              </a:rPr>
              <a:t>И   - </a:t>
            </a:r>
            <a:r>
              <a:rPr lang="en-US">
                <a:latin typeface="Cambria" pitchFamily="18" charset="0"/>
              </a:rPr>
              <a:t>  A+B</a:t>
            </a:r>
            <a:endParaRPr lang="bg-BG">
              <a:latin typeface="Cambria" pitchFamily="18" charset="0"/>
            </a:endParaRPr>
          </a:p>
        </p:txBody>
      </p:sp>
      <p:sp>
        <p:nvSpPr>
          <p:cNvPr id="48144" name="Text Box 197"/>
          <p:cNvSpPr txBox="1">
            <a:spLocks noChangeArrowheads="1"/>
          </p:cNvSpPr>
          <p:nvPr/>
        </p:nvSpPr>
        <p:spPr bwMode="auto">
          <a:xfrm>
            <a:off x="5124525" y="4077816"/>
            <a:ext cx="25779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>
                <a:latin typeface="Cambria" pitchFamily="18" charset="0"/>
              </a:rPr>
              <a:t>ИЛИ   - </a:t>
            </a:r>
            <a:r>
              <a:rPr lang="en-US">
                <a:latin typeface="Cambria" pitchFamily="18" charset="0"/>
              </a:rPr>
              <a:t>  A, B </a:t>
            </a:r>
            <a:r>
              <a:rPr lang="bg-BG">
                <a:latin typeface="Cambria" pitchFamily="18" charset="0"/>
              </a:rPr>
              <a:t>или </a:t>
            </a:r>
            <a:r>
              <a:rPr lang="en-US">
                <a:latin typeface="Cambria" pitchFamily="18" charset="0"/>
              </a:rPr>
              <a:t>A+B</a:t>
            </a:r>
            <a:endParaRPr lang="bg-BG">
              <a:latin typeface="Cambria" pitchFamily="18" charset="0"/>
            </a:endParaRPr>
          </a:p>
        </p:txBody>
      </p:sp>
      <p:sp>
        <p:nvSpPr>
          <p:cNvPr id="48145" name="Text Box 198"/>
          <p:cNvSpPr txBox="1">
            <a:spLocks noChangeArrowheads="1"/>
          </p:cNvSpPr>
          <p:nvPr/>
        </p:nvSpPr>
        <p:spPr bwMode="auto">
          <a:xfrm>
            <a:off x="5060950" y="4903316"/>
            <a:ext cx="3705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bg-BG">
                <a:latin typeface="Cambria" pitchFamily="18" charset="0"/>
              </a:rPr>
              <a:t>Изключващо ИЛИ   - </a:t>
            </a:r>
            <a:r>
              <a:rPr lang="en-US">
                <a:latin typeface="Cambria" pitchFamily="18" charset="0"/>
              </a:rPr>
              <a:t>  A</a:t>
            </a:r>
            <a:r>
              <a:rPr lang="bg-BG">
                <a:latin typeface="Cambria" pitchFamily="18" charset="0"/>
              </a:rPr>
              <a:t> или </a:t>
            </a:r>
            <a:r>
              <a:rPr lang="en-US">
                <a:latin typeface="Cambria" pitchFamily="18" charset="0"/>
              </a:rPr>
              <a:t>B</a:t>
            </a:r>
            <a:endParaRPr lang="bg-BG">
              <a:latin typeface="Cambria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436888"/>
            <a:ext cx="12573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623" y="3059719"/>
            <a:ext cx="1257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50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145610"/>
            <a:ext cx="7427168" cy="41805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bg-BG" sz="2400" i="0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Пример</a:t>
            </a:r>
          </a:p>
        </p:txBody>
      </p:sp>
      <p:pic>
        <p:nvPicPr>
          <p:cNvPr id="3074" name="Picture 2" descr="C:\Users\bborchev\AppData\Local\Microsoft\Windows\Temporary Internet Files\Content.Outlook\YN029Q07\EPC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48680"/>
            <a:ext cx="5904656" cy="621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915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611560" y="1927373"/>
            <a:ext cx="8229600" cy="4525963"/>
          </a:xfrm>
        </p:spPr>
        <p:txBody>
          <a:bodyPr/>
          <a:lstStyle/>
          <a:p>
            <a:pPr marL="285750" indent="-285750">
              <a:spcBef>
                <a:spcPct val="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2000" kern="1200" dirty="0">
                <a:latin typeface="Cambria" pitchFamily="18" charset="0"/>
              </a:rPr>
              <a:t>Софтуерни средства за създаване на графични диаграми с ограничени възможности за анализ и създаване на интегрирана процесна архитектура </a:t>
            </a:r>
            <a:r>
              <a:rPr lang="en-US" sz="2000" kern="1200" dirty="0">
                <a:latin typeface="Cambria" pitchFamily="18" charset="0"/>
              </a:rPr>
              <a:t/>
            </a:r>
            <a:br>
              <a:rPr lang="en-US" sz="2000" kern="1200" dirty="0">
                <a:latin typeface="Cambria" pitchFamily="18" charset="0"/>
              </a:rPr>
            </a:br>
            <a:r>
              <a:rPr lang="en-US" sz="2000" kern="1200" dirty="0">
                <a:latin typeface="Cambria" pitchFamily="18" charset="0"/>
              </a:rPr>
              <a:t>(MS Excel, MS Visio</a:t>
            </a:r>
            <a:r>
              <a:rPr lang="en-US" sz="2000" kern="1200" dirty="0" smtClean="0">
                <a:latin typeface="Cambria" pitchFamily="18" charset="0"/>
              </a:rPr>
              <a:t>)</a:t>
            </a:r>
          </a:p>
          <a:p>
            <a:pPr marL="285750" indent="-285750">
              <a:spcBef>
                <a:spcPct val="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endParaRPr lang="en-US" sz="2000" kern="1200" dirty="0">
              <a:latin typeface="Cambria" pitchFamily="18" charset="0"/>
            </a:endParaRPr>
          </a:p>
          <a:p>
            <a:pPr marL="285750" indent="-285750">
              <a:spcBef>
                <a:spcPct val="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2000" kern="1200" dirty="0">
                <a:latin typeface="Cambria" pitchFamily="18" charset="0"/>
              </a:rPr>
              <a:t>Специализирани софтуерни средства за моделиране и анализ на работни процеси</a:t>
            </a:r>
            <a:r>
              <a:rPr lang="en-US" sz="2000" kern="1200" dirty="0">
                <a:latin typeface="Cambria" pitchFamily="18" charset="0"/>
              </a:rPr>
              <a:t> (Enterprise Architect, ARIS</a:t>
            </a:r>
            <a:r>
              <a:rPr lang="en-US" sz="2000" kern="1200" dirty="0" smtClean="0">
                <a:latin typeface="Cambria" pitchFamily="18" charset="0"/>
              </a:rPr>
              <a:t>)</a:t>
            </a:r>
          </a:p>
          <a:p>
            <a:pPr marL="285750" indent="-285750">
              <a:spcBef>
                <a:spcPct val="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endParaRPr lang="en-US" sz="2000" kern="1200" dirty="0">
              <a:latin typeface="Cambria" pitchFamily="18" charset="0"/>
            </a:endParaRPr>
          </a:p>
          <a:p>
            <a:pPr marL="285750" indent="-285750">
              <a:spcBef>
                <a:spcPct val="0"/>
              </a:spcBef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ru-RU" sz="2000" kern="1200" dirty="0">
                <a:latin typeface="Cambria" pitchFamily="18" charset="0"/>
              </a:rPr>
              <a:t>Софтуерни средства за моделиране и анализ на работни процеси, които са част от цялостна платформа за автоматизация на работните потоци</a:t>
            </a:r>
            <a:r>
              <a:rPr lang="en-US" sz="2000" kern="1200" dirty="0">
                <a:latin typeface="Cambria" pitchFamily="18" charset="0"/>
              </a:rPr>
              <a:t> </a:t>
            </a:r>
            <a:br>
              <a:rPr lang="en-US" sz="2000" kern="1200" dirty="0">
                <a:latin typeface="Cambria" pitchFamily="18" charset="0"/>
              </a:rPr>
            </a:br>
            <a:r>
              <a:rPr lang="en-US" sz="2000" kern="1200" dirty="0">
                <a:latin typeface="Cambria" pitchFamily="18" charset="0"/>
              </a:rPr>
              <a:t>(IBM </a:t>
            </a:r>
            <a:r>
              <a:rPr lang="en-US" sz="2000" kern="1200" dirty="0" err="1">
                <a:latin typeface="Cambria" pitchFamily="18" charset="0"/>
              </a:rPr>
              <a:t>Websphere</a:t>
            </a:r>
            <a:r>
              <a:rPr lang="en-US" sz="2000" kern="1200" dirty="0">
                <a:latin typeface="Cambria" pitchFamily="18" charset="0"/>
              </a:rPr>
              <a:t>, Oracle BPM)</a:t>
            </a:r>
            <a:endParaRPr lang="bg-BG" sz="2000" kern="1200" dirty="0">
              <a:latin typeface="Cambria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27584" y="1124545"/>
            <a:ext cx="7777163" cy="5762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lvl="8" indent="0" algn="ctr">
              <a:spcBef>
                <a:spcPct val="0"/>
              </a:spcBef>
              <a:buNone/>
            </a:pPr>
            <a:r>
              <a:rPr lang="bg-BG" sz="2400" b="1" dirty="0">
                <a:solidFill>
                  <a:schemeClr val="tx2"/>
                </a:solidFill>
                <a:latin typeface="Cambria" pitchFamily="18" charset="0"/>
              </a:rPr>
              <a:t>Софтуерни средства за описание и анализ</a:t>
            </a:r>
          </a:p>
        </p:txBody>
      </p:sp>
    </p:spTree>
    <p:extLst>
      <p:ext uri="{BB962C8B-B14F-4D97-AF65-F5344CB8AC3E}">
        <p14:creationId xmlns:p14="http://schemas.microsoft.com/office/powerpoint/2010/main" val="127817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ЕТАП 4</a:t>
            </a:r>
            <a:r>
              <a:rPr lang="en-US" kern="1200" dirty="0" smtClean="0">
                <a:solidFill>
                  <a:schemeClr val="tx1"/>
                </a:solidFill>
                <a:latin typeface="Cambria" pitchFamily="18" charset="0"/>
              </a:rPr>
              <a:t>: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 Анализ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и подобряване на работните процеси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30</a:t>
            </a:fld>
            <a:endParaRPr lang="bg-BG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537" y="2348880"/>
            <a:ext cx="8197602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76200" algn="l">
              <a:spcBef>
                <a:spcPct val="20000"/>
              </a:spcBef>
            </a:pPr>
            <a:r>
              <a:rPr lang="bg-BG" sz="2000" dirty="0" smtClean="0">
                <a:latin typeface="Cambria" pitchFamily="18" charset="0"/>
              </a:rPr>
              <a:t>Цел:</a:t>
            </a:r>
            <a:endParaRPr lang="bg-BG" sz="2000" dirty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b="1" dirty="0" smtClean="0">
                <a:latin typeface="Cambria" pitchFamily="18" charset="0"/>
              </a:rPr>
              <a:t>Диагностичен анализ </a:t>
            </a:r>
            <a:r>
              <a:rPr lang="bg-BG" dirty="0" smtClean="0">
                <a:latin typeface="Cambria" pitchFamily="18" charset="0"/>
              </a:rPr>
              <a:t>- </a:t>
            </a:r>
            <a:r>
              <a:rPr lang="bg-BG" dirty="0">
                <a:latin typeface="Cambria" pitchFamily="18" charset="0"/>
              </a:rPr>
              <a:t>оценка на състоянието от гледна точка на целите, критериите и изискванията към крайния резултат (качеството на административните услуги), включващ оценка на наличните ресурси (технически, организационни, човешки, нормативни и др.) и на всички други предпоставки за стартиране и изпълнение (връзки с други процеси, вътрешни и външни</a:t>
            </a:r>
            <a:r>
              <a:rPr lang="bg-BG" dirty="0" smtClean="0">
                <a:latin typeface="Cambria" pitchFamily="18" charset="0"/>
              </a:rPr>
              <a:t>);</a:t>
            </a:r>
            <a:endParaRPr lang="en-US" dirty="0" smtClean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bg-BG" dirty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b="1" dirty="0" smtClean="0">
                <a:latin typeface="Cambria" pitchFamily="18" charset="0"/>
              </a:rPr>
              <a:t>Прогностичен анализ </a:t>
            </a:r>
            <a:r>
              <a:rPr lang="bg-BG" dirty="0" smtClean="0">
                <a:latin typeface="Cambria" pitchFamily="18" charset="0"/>
              </a:rPr>
              <a:t>- </a:t>
            </a:r>
            <a:r>
              <a:rPr lang="bg-BG" dirty="0">
                <a:latin typeface="Cambria" pitchFamily="18" charset="0"/>
              </a:rPr>
              <a:t>оценка на факторите и тенденциите за промени под влияние на вероятни причини и условия (с неблагоприятен ефект) и за разкриване на възможности за подобрения (фактори с благоприятен ефект</a:t>
            </a:r>
            <a:r>
              <a:rPr lang="bg-BG" dirty="0" smtClean="0">
                <a:latin typeface="Cambria" pitchFamily="18" charset="0"/>
              </a:rPr>
              <a:t>).</a:t>
            </a:r>
            <a:endParaRPr lang="bg-BG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0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815975" y="2564407"/>
            <a:ext cx="7777163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533400" indent="-457200" algn="l">
              <a:spcBef>
                <a:spcPct val="20000"/>
              </a:spcBef>
              <a:buFontTx/>
              <a:buAutoNum type="arabicPeriod"/>
            </a:pPr>
            <a:r>
              <a:rPr lang="bg-BG" b="1" dirty="0">
                <a:latin typeface="Cambria" pitchFamily="18" charset="0"/>
              </a:rPr>
              <a:t>Избор на процес за анализ и дефиниране на изискванията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Разглеждане на всички свързани процеси за предоставяне на една комплексна административна услуга на лице или организация – стъпки на процес на високо ниво;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Идентифициране на изискванията на клиента към качеството на продукта (административната услуга);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err="1">
                <a:latin typeface="Cambria" pitchFamily="18" charset="0"/>
              </a:rPr>
              <a:t>Операционализиране</a:t>
            </a:r>
            <a:r>
              <a:rPr lang="bg-BG" dirty="0">
                <a:latin typeface="Cambria" pitchFamily="18" charset="0"/>
              </a:rPr>
              <a:t> на изискванията в характеристики на продукта (услугата);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b="1" dirty="0" err="1">
                <a:latin typeface="Cambria" pitchFamily="18" charset="0"/>
              </a:rPr>
              <a:t>Операционализирани</a:t>
            </a:r>
            <a:r>
              <a:rPr lang="bg-BG" b="1" dirty="0">
                <a:latin typeface="Cambria" pitchFamily="18" charset="0"/>
              </a:rPr>
              <a:t> дефиниции на изискванията към резултата от процеса в спецификацията на </a:t>
            </a:r>
            <a:r>
              <a:rPr lang="bg-BG" b="1" dirty="0" smtClean="0">
                <a:latin typeface="Cambria" pitchFamily="18" charset="0"/>
              </a:rPr>
              <a:t>услугата</a:t>
            </a:r>
            <a:r>
              <a:rPr lang="en-US" b="1" dirty="0" smtClean="0">
                <a:latin typeface="Cambria" pitchFamily="18" charset="0"/>
              </a:rPr>
              <a:t>.</a:t>
            </a:r>
            <a:endParaRPr lang="bg-BG" b="1" dirty="0">
              <a:latin typeface="Cambria" pitchFamily="18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479550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анализ и подобряване на процесите (1)</a:t>
            </a:r>
            <a:endParaRPr lang="en-US" kern="1200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17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EC4BD7D-2F6B-47DD-87B5-0202030E69F8}" type="slidenum">
              <a:rPr lang="bg-BG"/>
              <a:pPr eaLnBrk="1" hangingPunct="1"/>
              <a:t>31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549384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755278" y="2600672"/>
            <a:ext cx="777716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Стратегическа </a:t>
            </a: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важност на процеса за организацията; значимост на процеса за управлението 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Честота </a:t>
            </a: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изпълнението на процеса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Степен на </a:t>
            </a: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изменение (</a:t>
            </a:r>
            <a:r>
              <a:rPr lang="bg-BG" sz="2000" dirty="0" err="1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флуктуации</a:t>
            </a: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) на </a:t>
            </a: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характеристиките на процеса при многократното му изпълнение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Финансова значимост на процеса за организацията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Стойност на процеса или на </a:t>
            </a: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резултатите, </a:t>
            </a: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които създава</a:t>
            </a:r>
          </a:p>
          <a:p>
            <a:pPr marL="342900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Очаквания и изисквания </a:t>
            </a:r>
            <a:r>
              <a:rPr lang="bg-BG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външните и вътрешните </a:t>
            </a:r>
            <a:r>
              <a:rPr lang="bg-BG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клиенти</a:t>
            </a:r>
            <a:endParaRPr lang="bg-BG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1196752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bg-BG" sz="2400" i="0" dirty="0">
                <a:solidFill>
                  <a:schemeClr val="tx1"/>
                </a:solidFill>
                <a:latin typeface="Cambria" pitchFamily="18" charset="0"/>
                <a:cs typeface="Times New Roman" pitchFamily="18" charset="0"/>
              </a:rPr>
              <a:t>Критерии за избор на процеси за анализ</a:t>
            </a:r>
          </a:p>
        </p:txBody>
      </p:sp>
    </p:spTree>
    <p:extLst>
      <p:ext uri="{BB962C8B-B14F-4D97-AF65-F5344CB8AC3E}">
        <p14:creationId xmlns:p14="http://schemas.microsoft.com/office/powerpoint/2010/main" val="1118071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815975" y="2349500"/>
            <a:ext cx="7777163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990600" lvl="1" indent="-457200" algn="l">
              <a:spcBef>
                <a:spcPct val="20000"/>
              </a:spcBef>
              <a:buFontTx/>
              <a:buAutoNum type="arabicPeriod"/>
            </a:pPr>
            <a:endParaRPr lang="bg-BG" sz="1600" b="1">
              <a:latin typeface="Times New Roman" pitchFamily="18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908720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Детайлизирани изисквания</a:t>
            </a:r>
            <a:endParaRPr lang="en-US" kern="1200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19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873A5FE-170A-4DAD-8457-E0114AE0181C}" type="slidenum">
              <a:rPr lang="bg-BG"/>
              <a:pPr eaLnBrk="1" hangingPunct="1"/>
              <a:t>33</a:t>
            </a:fld>
            <a:endParaRPr lang="bg-BG"/>
          </a:p>
        </p:txBody>
      </p:sp>
      <p:sp>
        <p:nvSpPr>
          <p:cNvPr id="8197" name="Rectangle 1"/>
          <p:cNvSpPr>
            <a:spLocks noChangeArrowheads="1"/>
          </p:cNvSpPr>
          <p:nvPr/>
        </p:nvSpPr>
        <p:spPr bwMode="auto">
          <a:xfrm>
            <a:off x="815975" y="1907535"/>
            <a:ext cx="7767638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077913" indent="-1077913" algn="l"/>
            <a:r>
              <a:rPr lang="bg-BG" sz="1600" b="1" dirty="0" smtClean="0">
                <a:latin typeface="Cambria" pitchFamily="18" charset="0"/>
              </a:rPr>
              <a:t>Критерий</a:t>
            </a:r>
            <a:r>
              <a:rPr lang="bg-BG" sz="1600" b="1" dirty="0">
                <a:latin typeface="Cambria" pitchFamily="18" charset="0"/>
              </a:rPr>
              <a:t>:</a:t>
            </a:r>
            <a:r>
              <a:rPr lang="bg-BG" sz="1600" dirty="0">
                <a:latin typeface="Cambria" pitchFamily="18" charset="0"/>
              </a:rPr>
              <a:t>	Стандарт (норма), спрямо която се оценяват резултатите от теста (измерването).</a:t>
            </a:r>
          </a:p>
          <a:p>
            <a:pPr marL="1077913" indent="-1077913" algn="l"/>
            <a:r>
              <a:rPr lang="bg-BG" sz="1600" b="1" dirty="0">
                <a:latin typeface="Cambria" pitchFamily="18" charset="0"/>
              </a:rPr>
              <a:t>Тест:</a:t>
            </a:r>
            <a:r>
              <a:rPr lang="bg-BG" sz="1600" dirty="0">
                <a:latin typeface="Cambria" pitchFamily="18" charset="0"/>
              </a:rPr>
              <a:t> 	Процедура за измерване на характеристиките на резултата.</a:t>
            </a:r>
          </a:p>
          <a:p>
            <a:pPr marL="1077913" indent="-1077913" algn="l"/>
            <a:r>
              <a:rPr lang="bg-BG" sz="1600" b="1" dirty="0">
                <a:latin typeface="Cambria" pitchFamily="18" charset="0"/>
              </a:rPr>
              <a:t>Решение:</a:t>
            </a:r>
            <a:r>
              <a:rPr lang="bg-BG" sz="1600" dirty="0">
                <a:latin typeface="Cambria" pitchFamily="18" charset="0"/>
              </a:rPr>
              <a:t> 	Свидетелства (данни) от измерването, даващи основание да се приеме, че характеристиката съответства или не съответства на критерия.</a:t>
            </a:r>
          </a:p>
          <a:p>
            <a:pPr marL="1077913" indent="-1077913" algn="l">
              <a:spcBef>
                <a:spcPts val="600"/>
              </a:spcBef>
              <a:spcAft>
                <a:spcPts val="600"/>
              </a:spcAft>
            </a:pPr>
            <a:r>
              <a:rPr lang="bg-BG" sz="1600" b="1" i="1" dirty="0">
                <a:latin typeface="Cambria" pitchFamily="18" charset="0"/>
              </a:rPr>
              <a:t>Пример: </a:t>
            </a:r>
            <a:r>
              <a:rPr lang="bg-BG" sz="1600" i="1" dirty="0">
                <a:latin typeface="Cambria" pitchFamily="18" charset="0"/>
              </a:rPr>
              <a:t>Приемане на заявлението за административна услуга на гише. Изискването на клиента е: „Услугата да става бързо.“ Какво означава „бързо“?</a:t>
            </a:r>
          </a:p>
          <a:p>
            <a:pPr marL="1077913" indent="-1077913" algn="l"/>
            <a:r>
              <a:rPr lang="bg-BG" sz="1600" b="1" dirty="0">
                <a:latin typeface="Cambria" pitchFamily="18" charset="0"/>
              </a:rPr>
              <a:t>Критерий:</a:t>
            </a:r>
            <a:r>
              <a:rPr lang="bg-BG" sz="1600" dirty="0">
                <a:latin typeface="Cambria" pitchFamily="18" charset="0"/>
              </a:rPr>
              <a:t>	Заявлението се приема на гише от служител за не повече от 5 минути.</a:t>
            </a:r>
          </a:p>
          <a:p>
            <a:pPr marL="1077913" indent="-1077913" algn="l"/>
            <a:r>
              <a:rPr lang="bg-BG" sz="1600" b="1" dirty="0">
                <a:latin typeface="Cambria" pitchFamily="18" charset="0"/>
              </a:rPr>
              <a:t>Тест:</a:t>
            </a:r>
            <a:r>
              <a:rPr lang="bg-BG" sz="1600" dirty="0">
                <a:latin typeface="Cambria" pitchFamily="18" charset="0"/>
              </a:rPr>
              <a:t> 	Времето се измерва чрез запис в информационна система или чрез хронометър от момента на подаване на заявлението до момента на получаване на съответния документ.</a:t>
            </a:r>
          </a:p>
          <a:p>
            <a:pPr marL="1077913" indent="-1077913" algn="l"/>
            <a:r>
              <a:rPr lang="bg-BG" sz="1600" b="1" dirty="0">
                <a:latin typeface="Cambria" pitchFamily="18" charset="0"/>
              </a:rPr>
              <a:t>Решение:</a:t>
            </a:r>
            <a:r>
              <a:rPr lang="bg-BG" sz="1600" dirty="0">
                <a:latin typeface="Cambria" pitchFamily="18" charset="0"/>
              </a:rPr>
              <a:t> 	Ако времето, измерено за обработка на заявлението, е по-малко от 5 минути, критерият е удовлетворен и решението е положително – Да, услугата е бърза.</a:t>
            </a:r>
          </a:p>
        </p:txBody>
      </p:sp>
    </p:spTree>
    <p:extLst>
      <p:ext uri="{BB962C8B-B14F-4D97-AF65-F5344CB8AC3E}">
        <p14:creationId xmlns:p14="http://schemas.microsoft.com/office/powerpoint/2010/main" val="3819766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84213" y="1988344"/>
            <a:ext cx="8064500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76200" algn="l">
              <a:spcBef>
                <a:spcPct val="20000"/>
              </a:spcBef>
            </a:pPr>
            <a:r>
              <a:rPr lang="bg-BG" sz="2000" dirty="0">
                <a:latin typeface="Cambria" pitchFamily="18" charset="0"/>
              </a:rPr>
              <a:t>2. Планиране и организиране на наблюдения</a:t>
            </a: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Разработване на план на наблюденията - вид на наблюдението, източници на сведенията, методи за регистрация, време и място, органи на наблюдението, документи и др. </a:t>
            </a:r>
            <a:endParaRPr lang="bg-BG" sz="1600" dirty="0" smtClean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bg-BG" sz="1600" dirty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Регистриране на данни за измерители (метрики) на крайния резултат от процеса съгласно базовата спецификация на услугата: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r>
              <a:rPr lang="bg-BG" sz="1600" dirty="0">
                <a:latin typeface="Cambria" pitchFamily="18" charset="0"/>
              </a:rPr>
              <a:t>измерители, свързани с качеството в очите на клиента (удовлетвореност, време за чакане и др.); 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r>
              <a:rPr lang="bg-BG" sz="1600" dirty="0">
                <a:latin typeface="Cambria" pitchFamily="18" charset="0"/>
              </a:rPr>
              <a:t>измерители, свързани с физически характеристики на изхода на процеса (обем обработени данни, време за достъп до външен регистър, капацитет на комуникационния канал и др.);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r>
              <a:rPr lang="bg-BG" sz="1600" dirty="0">
                <a:latin typeface="Cambria" pitchFamily="18" charset="0"/>
              </a:rPr>
              <a:t>измерители на самия процес от гледна точка на вариацията и възможността да се идентифицират източници на неслучайна вариация като симптоми на проблеми.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196752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анализ и подобряване на процесите (2)</a:t>
            </a:r>
            <a:endParaRPr lang="en-US" kern="1200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921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C548D0-C7B9-41D6-B134-C26869CCBBA5}" type="slidenum">
              <a:rPr lang="bg-BG"/>
              <a:pPr eaLnBrk="1" hangingPunct="1"/>
              <a:t>34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5260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4213" y="2420938"/>
            <a:ext cx="8064500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76200" algn="l">
              <a:spcBef>
                <a:spcPct val="20000"/>
              </a:spcBef>
            </a:pPr>
            <a:r>
              <a:rPr lang="bg-BG" dirty="0">
                <a:latin typeface="Cambria" pitchFamily="18" charset="0"/>
              </a:rPr>
              <a:t>3. Анализ на данните от наблюденията</a:t>
            </a: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Разкриване и опознаване на важни характеристики на поведението на процеса във времето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r>
              <a:rPr lang="bg-BG" dirty="0">
                <a:latin typeface="Cambria" pitchFamily="18" charset="0"/>
              </a:rPr>
              <a:t>Препоръчани методи: таблици и диаграми, Контролни карти</a:t>
            </a:r>
            <a:r>
              <a:rPr lang="bg-BG" dirty="0" smtClean="0">
                <a:latin typeface="Cambria" pitchFamily="18" charset="0"/>
              </a:rPr>
              <a:t>;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endParaRPr lang="bg-BG" dirty="0">
              <a:latin typeface="Cambria" pitchFamily="18" charset="0"/>
            </a:endParaRP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Идентифициране на симптоми и причини за проблеми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Arial" charset="0"/>
              <a:buChar char="•"/>
            </a:pPr>
            <a:r>
              <a:rPr lang="bg-BG" dirty="0">
                <a:latin typeface="Cambria" pitchFamily="18" charset="0"/>
              </a:rPr>
              <a:t>Препоръчани методи: Причинно-следствена диаграма (Диаграма на </a:t>
            </a:r>
            <a:r>
              <a:rPr lang="bg-BG" dirty="0" err="1">
                <a:latin typeface="Cambria" pitchFamily="18" charset="0"/>
              </a:rPr>
              <a:t>Ишикава</a:t>
            </a:r>
            <a:r>
              <a:rPr lang="bg-BG" dirty="0">
                <a:latin typeface="Cambria" pitchFamily="18" charset="0"/>
              </a:rPr>
              <a:t>), Дърво на причинно-следствени връзки, в съчетание с Мозъчна атака (</a:t>
            </a:r>
            <a:r>
              <a:rPr lang="en-US" dirty="0">
                <a:latin typeface="Cambria" pitchFamily="18" charset="0"/>
              </a:rPr>
              <a:t>Brain Storming) </a:t>
            </a:r>
            <a:r>
              <a:rPr lang="bg-BG" dirty="0">
                <a:latin typeface="Cambria" pitchFamily="18" charset="0"/>
              </a:rPr>
              <a:t>и други подходящи евристични методи, за осигуряване на ефективен групов процес на обсъждане и вземане на решения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479550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анализ и подобряване на процесите (3)</a:t>
            </a:r>
            <a:endParaRPr lang="en-US" kern="1200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1024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1A5E995-1D30-4844-A1C5-91D72054237F}" type="slidenum">
              <a:rPr lang="bg-BG"/>
              <a:pPr eaLnBrk="1" hangingPunct="1"/>
              <a:t>35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615826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196752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dirty="0">
                <a:solidFill>
                  <a:srgbClr val="1E4649"/>
                </a:solidFill>
                <a:latin typeface="Cambria" pitchFamily="18" charset="0"/>
              </a:rPr>
              <a:t>Причинно-следствена диаграма</a:t>
            </a:r>
            <a:br>
              <a:rPr lang="bg-BG" dirty="0">
                <a:solidFill>
                  <a:srgbClr val="1E4649"/>
                </a:solidFill>
                <a:latin typeface="Cambria" pitchFamily="18" charset="0"/>
              </a:rPr>
            </a:br>
            <a:r>
              <a:rPr lang="bg-BG" dirty="0">
                <a:solidFill>
                  <a:srgbClr val="1E4649"/>
                </a:solidFill>
                <a:latin typeface="Cambria" pitchFamily="18" charset="0"/>
              </a:rPr>
              <a:t>(Диаграма на </a:t>
            </a:r>
            <a:r>
              <a:rPr lang="bg-BG" dirty="0" err="1">
                <a:solidFill>
                  <a:srgbClr val="1E4649"/>
                </a:solidFill>
                <a:latin typeface="Cambria" pitchFamily="18" charset="0"/>
              </a:rPr>
              <a:t>Ишикава</a:t>
            </a:r>
            <a:r>
              <a:rPr lang="bg-BG" dirty="0">
                <a:solidFill>
                  <a:srgbClr val="1E4649"/>
                </a:solidFill>
                <a:latin typeface="Cambria" pitchFamily="18" charset="0"/>
              </a:rPr>
              <a:t>)</a:t>
            </a:r>
            <a:endParaRPr lang="en-US" dirty="0">
              <a:solidFill>
                <a:srgbClr val="1E4649"/>
              </a:solidFill>
              <a:latin typeface="Cambria" pitchFamily="18" charset="0"/>
            </a:endParaRPr>
          </a:p>
        </p:txBody>
      </p:sp>
      <p:sp>
        <p:nvSpPr>
          <p:cNvPr id="1126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E443F8-465D-46A5-ABAB-3AD0FB8E2E06}" type="slidenum">
              <a:rPr lang="bg-BG"/>
              <a:pPr eaLnBrk="1" hangingPunct="1"/>
              <a:t>36</a:t>
            </a:fld>
            <a:endParaRPr lang="bg-BG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164288" y="3937720"/>
            <a:ext cx="1044575" cy="5524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12700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bliqueBottomRight"/>
            <a:lightRig rig="threePt" dir="t"/>
          </a:scene3d>
          <a:sp3d>
            <a:bevelT/>
          </a:sp3d>
          <a:extLst/>
        </p:spPr>
        <p:txBody>
          <a:bodyPr wrap="none" anchor="ctr"/>
          <a:lstStyle>
            <a:defPPr>
              <a:defRPr lang="en-GB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bg-BG" sz="1600" dirty="0">
                <a:solidFill>
                  <a:schemeClr val="tx1"/>
                </a:solidFill>
              </a:rPr>
              <a:t>Проблем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65538" y="2204864"/>
            <a:ext cx="1363663" cy="586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b="1"/>
              <a:t>Хора</a:t>
            </a:r>
            <a:endParaRPr lang="en-US" sz="1600" b="1"/>
          </a:p>
        </p:txBody>
      </p:sp>
      <p:sp>
        <p:nvSpPr>
          <p:cNvPr id="11272" name="Line 5"/>
          <p:cNvSpPr>
            <a:spLocks noChangeShapeType="1"/>
          </p:cNvSpPr>
          <p:nvPr/>
        </p:nvSpPr>
        <p:spPr bwMode="auto">
          <a:xfrm flipV="1">
            <a:off x="1281113" y="4241800"/>
            <a:ext cx="5883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19700" y="5650632"/>
            <a:ext cx="1795462" cy="514672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b="1"/>
              <a:t>Софтуерна </a:t>
            </a:r>
            <a:br>
              <a:rPr lang="bg-BG" sz="1600" b="1"/>
            </a:br>
            <a:r>
              <a:rPr lang="bg-BG" sz="1600" b="1"/>
              <a:t>система</a:t>
            </a:r>
            <a:endParaRPr lang="en-US" sz="1600" b="1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75657" y="2204864"/>
            <a:ext cx="1449388" cy="586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b="1"/>
              <a:t>Процеси</a:t>
            </a:r>
          </a:p>
          <a:p>
            <a:r>
              <a:rPr lang="bg-BG" sz="1600" b="1"/>
              <a:t>(Организация</a:t>
            </a:r>
            <a:r>
              <a:rPr lang="bg-BG" sz="1600"/>
              <a:t>)</a:t>
            </a:r>
            <a:endParaRPr lang="en-US" sz="16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151187" y="5650632"/>
            <a:ext cx="1363663" cy="514672"/>
          </a:xfrm>
          <a:prstGeom prst="rect">
            <a:avLst/>
          </a:prstGeom>
          <a:solidFill>
            <a:srgbClr val="CC99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b="1"/>
              <a:t>Нормативна </a:t>
            </a:r>
            <a:br>
              <a:rPr lang="bg-BG" sz="1600" b="1"/>
            </a:br>
            <a:r>
              <a:rPr lang="bg-BG" sz="1600" b="1"/>
              <a:t>система</a:t>
            </a:r>
            <a:endParaRPr lang="en-US" sz="1600" b="1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03275" y="5650632"/>
            <a:ext cx="1363662" cy="5146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600" b="1"/>
              <a:t>Физическа </a:t>
            </a:r>
            <a:br>
              <a:rPr lang="bg-BG" sz="1600" b="1"/>
            </a:br>
            <a:r>
              <a:rPr lang="bg-BG" sz="1600" b="1"/>
              <a:t>среда</a:t>
            </a:r>
            <a:endParaRPr lang="en-US" sz="1600" b="1"/>
          </a:p>
        </p:txBody>
      </p:sp>
      <p:sp>
        <p:nvSpPr>
          <p:cNvPr id="11285" name="Line 10"/>
          <p:cNvSpPr>
            <a:spLocks noChangeShapeType="1"/>
          </p:cNvSpPr>
          <p:nvPr/>
        </p:nvSpPr>
        <p:spPr bwMode="auto">
          <a:xfrm>
            <a:off x="2244725" y="2790825"/>
            <a:ext cx="917575" cy="145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86" name="Line 11"/>
          <p:cNvSpPr>
            <a:spLocks noChangeShapeType="1"/>
          </p:cNvSpPr>
          <p:nvPr/>
        </p:nvSpPr>
        <p:spPr bwMode="auto">
          <a:xfrm flipV="1">
            <a:off x="1455738" y="4241800"/>
            <a:ext cx="1335087" cy="1408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87" name="Line 12"/>
          <p:cNvSpPr>
            <a:spLocks noChangeShapeType="1"/>
          </p:cNvSpPr>
          <p:nvPr/>
        </p:nvSpPr>
        <p:spPr bwMode="auto">
          <a:xfrm flipV="1">
            <a:off x="3860800" y="4241800"/>
            <a:ext cx="1149350" cy="1408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88" name="Line 13"/>
          <p:cNvSpPr>
            <a:spLocks noChangeShapeType="1"/>
          </p:cNvSpPr>
          <p:nvPr/>
        </p:nvSpPr>
        <p:spPr bwMode="auto">
          <a:xfrm flipV="1">
            <a:off x="5867400" y="4241800"/>
            <a:ext cx="1147763" cy="1408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89" name="Line 14"/>
          <p:cNvSpPr>
            <a:spLocks noChangeShapeType="1"/>
          </p:cNvSpPr>
          <p:nvPr/>
        </p:nvSpPr>
        <p:spPr bwMode="auto">
          <a:xfrm>
            <a:off x="5364163" y="2790825"/>
            <a:ext cx="754062" cy="145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0" name="Line 15"/>
          <p:cNvSpPr>
            <a:spLocks noChangeShapeType="1"/>
          </p:cNvSpPr>
          <p:nvPr/>
        </p:nvSpPr>
        <p:spPr bwMode="auto">
          <a:xfrm>
            <a:off x="1562100" y="3182938"/>
            <a:ext cx="947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1" name="Line 16"/>
          <p:cNvSpPr>
            <a:spLocks noChangeShapeType="1"/>
          </p:cNvSpPr>
          <p:nvPr/>
        </p:nvSpPr>
        <p:spPr bwMode="auto">
          <a:xfrm>
            <a:off x="1476375" y="3662363"/>
            <a:ext cx="13636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2" name="Line 17"/>
          <p:cNvSpPr>
            <a:spLocks noChangeShapeType="1"/>
          </p:cNvSpPr>
          <p:nvPr/>
        </p:nvSpPr>
        <p:spPr bwMode="auto">
          <a:xfrm>
            <a:off x="1281113" y="4881563"/>
            <a:ext cx="885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3" name="Line 18"/>
          <p:cNvSpPr>
            <a:spLocks noChangeShapeType="1"/>
          </p:cNvSpPr>
          <p:nvPr/>
        </p:nvSpPr>
        <p:spPr bwMode="auto">
          <a:xfrm>
            <a:off x="3144838" y="4789488"/>
            <a:ext cx="1436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4" name="Line 19"/>
          <p:cNvSpPr>
            <a:spLocks noChangeShapeType="1"/>
          </p:cNvSpPr>
          <p:nvPr/>
        </p:nvSpPr>
        <p:spPr bwMode="auto">
          <a:xfrm>
            <a:off x="5867400" y="4789488"/>
            <a:ext cx="7159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5" name="Line 20"/>
          <p:cNvSpPr>
            <a:spLocks noChangeShapeType="1"/>
          </p:cNvSpPr>
          <p:nvPr/>
        </p:nvSpPr>
        <p:spPr bwMode="auto">
          <a:xfrm>
            <a:off x="4881563" y="5200650"/>
            <a:ext cx="13636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6" name="Line 21"/>
          <p:cNvSpPr>
            <a:spLocks noChangeShapeType="1"/>
          </p:cNvSpPr>
          <p:nvPr/>
        </p:nvSpPr>
        <p:spPr bwMode="auto">
          <a:xfrm flipH="1">
            <a:off x="6316663" y="5100638"/>
            <a:ext cx="14239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7" name="Line 22"/>
          <p:cNvSpPr>
            <a:spLocks noChangeShapeType="1"/>
          </p:cNvSpPr>
          <p:nvPr/>
        </p:nvSpPr>
        <p:spPr bwMode="auto">
          <a:xfrm flipH="1">
            <a:off x="5565775" y="3182938"/>
            <a:ext cx="1428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8" name="Line 23"/>
          <p:cNvSpPr>
            <a:spLocks noChangeShapeType="1"/>
          </p:cNvSpPr>
          <p:nvPr/>
        </p:nvSpPr>
        <p:spPr bwMode="auto">
          <a:xfrm flipH="1">
            <a:off x="2581275" y="3357563"/>
            <a:ext cx="1565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299" name="Line 24"/>
          <p:cNvSpPr>
            <a:spLocks noChangeShapeType="1"/>
          </p:cNvSpPr>
          <p:nvPr/>
        </p:nvSpPr>
        <p:spPr bwMode="auto">
          <a:xfrm>
            <a:off x="4356100" y="3573463"/>
            <a:ext cx="13636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0" name="Line 33"/>
          <p:cNvSpPr>
            <a:spLocks noChangeShapeType="1"/>
          </p:cNvSpPr>
          <p:nvPr/>
        </p:nvSpPr>
        <p:spPr bwMode="auto">
          <a:xfrm flipV="1">
            <a:off x="3178175" y="4794250"/>
            <a:ext cx="330200" cy="392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1" name="Line 34"/>
          <p:cNvSpPr>
            <a:spLocks noChangeShapeType="1"/>
          </p:cNvSpPr>
          <p:nvPr/>
        </p:nvSpPr>
        <p:spPr bwMode="auto">
          <a:xfrm flipV="1">
            <a:off x="3609975" y="4794250"/>
            <a:ext cx="330200" cy="392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2" name="Line 35"/>
          <p:cNvSpPr>
            <a:spLocks noChangeShapeType="1"/>
          </p:cNvSpPr>
          <p:nvPr/>
        </p:nvSpPr>
        <p:spPr bwMode="auto">
          <a:xfrm flipH="1" flipV="1">
            <a:off x="3005138" y="3357563"/>
            <a:ext cx="271462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3" name="Line 36"/>
          <p:cNvSpPr>
            <a:spLocks noChangeShapeType="1"/>
          </p:cNvSpPr>
          <p:nvPr/>
        </p:nvSpPr>
        <p:spPr bwMode="auto">
          <a:xfrm flipH="1" flipV="1">
            <a:off x="3436938" y="3344863"/>
            <a:ext cx="271462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4" name="TextBox 31"/>
          <p:cNvSpPr txBox="1">
            <a:spLocks noChangeArrowheads="1"/>
          </p:cNvSpPr>
          <p:nvPr/>
        </p:nvSpPr>
        <p:spPr bwMode="auto">
          <a:xfrm>
            <a:off x="5724525" y="2833688"/>
            <a:ext cx="823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400"/>
              <a:t>Клиенти</a:t>
            </a:r>
          </a:p>
        </p:txBody>
      </p:sp>
      <p:sp>
        <p:nvSpPr>
          <p:cNvPr id="11305" name="TextBox 32"/>
          <p:cNvSpPr txBox="1">
            <a:spLocks noChangeArrowheads="1"/>
          </p:cNvSpPr>
          <p:nvPr/>
        </p:nvSpPr>
        <p:spPr bwMode="auto">
          <a:xfrm>
            <a:off x="4572000" y="3284538"/>
            <a:ext cx="1019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400"/>
              <a:t>Служители</a:t>
            </a:r>
          </a:p>
        </p:txBody>
      </p:sp>
      <p:sp>
        <p:nvSpPr>
          <p:cNvPr id="11306" name="Line 35"/>
          <p:cNvSpPr>
            <a:spLocks noChangeShapeType="1"/>
          </p:cNvSpPr>
          <p:nvPr/>
        </p:nvSpPr>
        <p:spPr bwMode="auto">
          <a:xfrm flipH="1" flipV="1">
            <a:off x="5964238" y="3205163"/>
            <a:ext cx="271462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7" name="Line 35"/>
          <p:cNvSpPr>
            <a:spLocks noChangeShapeType="1"/>
          </p:cNvSpPr>
          <p:nvPr/>
        </p:nvSpPr>
        <p:spPr bwMode="auto">
          <a:xfrm flipH="1" flipV="1">
            <a:off x="6527800" y="3205163"/>
            <a:ext cx="271463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08" name="TextBox 35"/>
          <p:cNvSpPr txBox="1">
            <a:spLocks noChangeArrowheads="1"/>
          </p:cNvSpPr>
          <p:nvPr/>
        </p:nvSpPr>
        <p:spPr bwMode="auto">
          <a:xfrm rot="2492673">
            <a:off x="6638925" y="3302000"/>
            <a:ext cx="7667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Допускат </a:t>
            </a:r>
            <a:br>
              <a:rPr lang="bg-BG" sz="1100"/>
            </a:br>
            <a:r>
              <a:rPr lang="bg-BG" sz="1100"/>
              <a:t>грешки</a:t>
            </a:r>
          </a:p>
        </p:txBody>
      </p:sp>
      <p:sp>
        <p:nvSpPr>
          <p:cNvPr id="11309" name="TextBox 36"/>
          <p:cNvSpPr txBox="1">
            <a:spLocks noChangeArrowheads="1"/>
          </p:cNvSpPr>
          <p:nvPr/>
        </p:nvSpPr>
        <p:spPr bwMode="auto">
          <a:xfrm rot="2819066">
            <a:off x="6036469" y="3307557"/>
            <a:ext cx="8397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Непълни </a:t>
            </a:r>
            <a:br>
              <a:rPr lang="bg-BG" sz="1100"/>
            </a:br>
            <a:r>
              <a:rPr lang="bg-BG" sz="1100"/>
              <a:t>документи</a:t>
            </a:r>
          </a:p>
        </p:txBody>
      </p:sp>
      <p:sp>
        <p:nvSpPr>
          <p:cNvPr id="11310" name="Line 35"/>
          <p:cNvSpPr>
            <a:spLocks noChangeShapeType="1"/>
          </p:cNvSpPr>
          <p:nvPr/>
        </p:nvSpPr>
        <p:spPr bwMode="auto">
          <a:xfrm flipV="1">
            <a:off x="4643438" y="3619500"/>
            <a:ext cx="393700" cy="530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311" name="TextBox 38"/>
          <p:cNvSpPr txBox="1">
            <a:spLocks noChangeArrowheads="1"/>
          </p:cNvSpPr>
          <p:nvPr/>
        </p:nvSpPr>
        <p:spPr bwMode="auto">
          <a:xfrm rot="-2713785">
            <a:off x="4149726" y="3703637"/>
            <a:ext cx="8302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Не оказват</a:t>
            </a:r>
            <a:br>
              <a:rPr lang="bg-BG" sz="1100"/>
            </a:br>
            <a:r>
              <a:rPr lang="bg-BG" sz="1100"/>
              <a:t>помощ</a:t>
            </a:r>
          </a:p>
        </p:txBody>
      </p:sp>
      <p:sp>
        <p:nvSpPr>
          <p:cNvPr id="11312" name="TextBox 39"/>
          <p:cNvSpPr txBox="1">
            <a:spLocks noChangeArrowheads="1"/>
          </p:cNvSpPr>
          <p:nvPr/>
        </p:nvSpPr>
        <p:spPr bwMode="auto">
          <a:xfrm>
            <a:off x="2616200" y="2924175"/>
            <a:ext cx="17399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Времето за обработка</a:t>
            </a:r>
            <a:br>
              <a:rPr lang="bg-BG" sz="1100"/>
            </a:br>
            <a:r>
              <a:rPr lang="bg-BG" sz="1100"/>
              <a:t>варира в широки граници</a:t>
            </a:r>
          </a:p>
        </p:txBody>
      </p:sp>
      <p:sp>
        <p:nvSpPr>
          <p:cNvPr id="11313" name="TextBox 40"/>
          <p:cNvSpPr txBox="1">
            <a:spLocks noChangeArrowheads="1"/>
          </p:cNvSpPr>
          <p:nvPr/>
        </p:nvSpPr>
        <p:spPr bwMode="auto">
          <a:xfrm>
            <a:off x="1258888" y="3262313"/>
            <a:ext cx="13049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Липсват подробни</a:t>
            </a:r>
            <a:br>
              <a:rPr lang="bg-BG" sz="1100"/>
            </a:br>
            <a:r>
              <a:rPr lang="bg-BG" sz="1100"/>
              <a:t>указания </a:t>
            </a:r>
          </a:p>
        </p:txBody>
      </p:sp>
      <p:sp>
        <p:nvSpPr>
          <p:cNvPr id="11314" name="TextBox 41"/>
          <p:cNvSpPr txBox="1">
            <a:spLocks noChangeArrowheads="1"/>
          </p:cNvSpPr>
          <p:nvPr/>
        </p:nvSpPr>
        <p:spPr bwMode="auto">
          <a:xfrm>
            <a:off x="395288" y="4438650"/>
            <a:ext cx="19478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Няма удобства за попълване </a:t>
            </a:r>
            <a:br>
              <a:rPr lang="bg-BG" sz="1100"/>
            </a:br>
            <a:r>
              <a:rPr lang="bg-BG" sz="1100"/>
              <a:t>на документи на място</a:t>
            </a:r>
          </a:p>
        </p:txBody>
      </p:sp>
      <p:sp>
        <p:nvSpPr>
          <p:cNvPr id="11315" name="TextBox 42"/>
          <p:cNvSpPr txBox="1">
            <a:spLocks noChangeArrowheads="1"/>
          </p:cNvSpPr>
          <p:nvPr/>
        </p:nvSpPr>
        <p:spPr bwMode="auto">
          <a:xfrm>
            <a:off x="3276600" y="4508500"/>
            <a:ext cx="13731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Сложни формуляри</a:t>
            </a:r>
          </a:p>
        </p:txBody>
      </p:sp>
      <p:sp>
        <p:nvSpPr>
          <p:cNvPr id="11316" name="TextBox 43"/>
          <p:cNvSpPr txBox="1">
            <a:spLocks noChangeArrowheads="1"/>
          </p:cNvSpPr>
          <p:nvPr/>
        </p:nvSpPr>
        <p:spPr bwMode="auto">
          <a:xfrm rot="-2713785">
            <a:off x="2574925" y="4970463"/>
            <a:ext cx="9826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Много данни</a:t>
            </a:r>
          </a:p>
        </p:txBody>
      </p:sp>
      <p:sp>
        <p:nvSpPr>
          <p:cNvPr id="11317" name="TextBox 44"/>
          <p:cNvSpPr txBox="1">
            <a:spLocks noChangeArrowheads="1"/>
          </p:cNvSpPr>
          <p:nvPr/>
        </p:nvSpPr>
        <p:spPr bwMode="auto">
          <a:xfrm>
            <a:off x="6567488" y="4724400"/>
            <a:ext cx="14605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Въвеждане на голям </a:t>
            </a:r>
            <a:br>
              <a:rPr lang="bg-BG" sz="1100"/>
            </a:br>
            <a:r>
              <a:rPr lang="bg-BG" sz="1100"/>
              <a:t>обем данни</a:t>
            </a:r>
          </a:p>
        </p:txBody>
      </p:sp>
      <p:sp>
        <p:nvSpPr>
          <p:cNvPr id="11318" name="TextBox 45"/>
          <p:cNvSpPr txBox="1">
            <a:spLocks noChangeArrowheads="1"/>
          </p:cNvSpPr>
          <p:nvPr/>
        </p:nvSpPr>
        <p:spPr bwMode="auto">
          <a:xfrm>
            <a:off x="5303838" y="4967288"/>
            <a:ext cx="9969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Работи бавно</a:t>
            </a:r>
          </a:p>
        </p:txBody>
      </p:sp>
      <p:sp>
        <p:nvSpPr>
          <p:cNvPr id="11319" name="TextBox 46"/>
          <p:cNvSpPr txBox="1">
            <a:spLocks noChangeArrowheads="1"/>
          </p:cNvSpPr>
          <p:nvPr/>
        </p:nvSpPr>
        <p:spPr bwMode="auto">
          <a:xfrm>
            <a:off x="611188" y="2800350"/>
            <a:ext cx="16494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Указанията са достъпни </a:t>
            </a:r>
            <a:br>
              <a:rPr lang="bg-BG" sz="1100"/>
            </a:br>
            <a:r>
              <a:rPr lang="bg-BG" sz="1100"/>
              <a:t>само през Интернет</a:t>
            </a:r>
          </a:p>
        </p:txBody>
      </p:sp>
      <p:sp>
        <p:nvSpPr>
          <p:cNvPr id="11320" name="TextBox 47"/>
          <p:cNvSpPr txBox="1">
            <a:spLocks noChangeArrowheads="1"/>
          </p:cNvSpPr>
          <p:nvPr/>
        </p:nvSpPr>
        <p:spPr bwMode="auto">
          <a:xfrm rot="-2713785">
            <a:off x="2747169" y="5128419"/>
            <a:ext cx="12811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bg-BG" sz="1100"/>
              <a:t>Технически данни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7278722" y="3284984"/>
            <a:ext cx="1757774" cy="84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isometricOffAxis2Left"/>
            <a:lightRig rig="threePt" dir="t"/>
          </a:scene3d>
          <a:sp3d>
            <a:bevelT w="101600" prst="riblet"/>
          </a:sp3d>
          <a:extLst/>
        </p:spPr>
        <p:txBody>
          <a:bodyPr wrap="none" anchor="ctr"/>
          <a:lstStyle>
            <a:defPPr>
              <a:defRPr lang="en-GB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bg-BG" sz="1200" dirty="0" smtClean="0">
                <a:solidFill>
                  <a:schemeClr val="tx1"/>
                </a:solidFill>
              </a:rPr>
              <a:t>Неудовлетвореност </a:t>
            </a:r>
            <a:br>
              <a:rPr lang="bg-BG" sz="1200" dirty="0" smtClean="0">
                <a:solidFill>
                  <a:schemeClr val="tx1"/>
                </a:solidFill>
              </a:rPr>
            </a:br>
            <a:r>
              <a:rPr lang="bg-BG" sz="1200" dirty="0" smtClean="0">
                <a:solidFill>
                  <a:schemeClr val="tx1"/>
                </a:solidFill>
              </a:rPr>
              <a:t>на клиента от времето </a:t>
            </a:r>
            <a:br>
              <a:rPr lang="bg-BG" sz="1200" dirty="0" smtClean="0">
                <a:solidFill>
                  <a:schemeClr val="tx1"/>
                </a:solidFill>
              </a:rPr>
            </a:br>
            <a:r>
              <a:rPr lang="bg-BG" sz="1200" dirty="0" smtClean="0">
                <a:solidFill>
                  <a:schemeClr val="tx1"/>
                </a:solidFill>
              </a:rPr>
              <a:t>за чакане и получаване </a:t>
            </a:r>
            <a:br>
              <a:rPr lang="bg-BG" sz="1200" dirty="0" smtClean="0">
                <a:solidFill>
                  <a:schemeClr val="tx1"/>
                </a:solidFill>
              </a:rPr>
            </a:br>
            <a:r>
              <a:rPr lang="bg-BG" sz="1200" dirty="0" smtClean="0">
                <a:solidFill>
                  <a:schemeClr val="tx1"/>
                </a:solidFill>
              </a:rPr>
              <a:t>на услугата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926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052736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dirty="0">
                <a:solidFill>
                  <a:schemeClr val="tx1"/>
                </a:solidFill>
                <a:latin typeface="Cambria" pitchFamily="18" charset="0"/>
              </a:rPr>
              <a:t>Дърво на причинно-следствени връзки</a:t>
            </a:r>
            <a:endParaRPr lang="en-US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1229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9E69CE5-D7C0-468D-9680-FA03476EF21D}" type="slidenum">
              <a:rPr lang="bg-BG"/>
              <a:pPr eaLnBrk="1" hangingPunct="1"/>
              <a:t>37</a:t>
            </a:fld>
            <a:endParaRPr lang="bg-BG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44348" y="3666507"/>
            <a:ext cx="972687" cy="44083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12700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bliqueBottomRight"/>
            <a:lightRig rig="threePt" dir="t"/>
          </a:scene3d>
          <a:sp3d>
            <a:bevelT/>
          </a:sp3d>
          <a:extLst/>
        </p:spPr>
        <p:txBody>
          <a:bodyPr wrap="none" anchor="ctr"/>
          <a:lstStyle>
            <a:defPPr>
              <a:defRPr lang="en-GB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bg-BG" sz="1600" dirty="0">
                <a:solidFill>
                  <a:schemeClr val="tx1"/>
                </a:solidFill>
              </a:rPr>
              <a:t>Проблем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5535" y="4107343"/>
            <a:ext cx="1937737" cy="841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Неудовлетвореност </a:t>
            </a:r>
            <a:br>
              <a:rPr lang="bg-BG" sz="1200"/>
            </a:br>
            <a:r>
              <a:rPr lang="bg-BG" sz="1200"/>
              <a:t>на клиента от времето </a:t>
            </a:r>
            <a:br>
              <a:rPr lang="bg-BG" sz="1200"/>
            </a:br>
            <a:r>
              <a:rPr lang="bg-BG" sz="1200"/>
              <a:t>за чакане и получаване </a:t>
            </a:r>
            <a:br>
              <a:rPr lang="bg-BG" sz="1200"/>
            </a:br>
            <a:r>
              <a:rPr lang="bg-BG" sz="1200"/>
              <a:t>на услугата</a:t>
            </a:r>
            <a:endParaRPr lang="en-US" sz="12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786683" y="3134839"/>
            <a:ext cx="1609257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Големи опашки </a:t>
            </a:r>
            <a:br>
              <a:rPr lang="bg-BG" sz="1200"/>
            </a:br>
            <a:r>
              <a:rPr lang="bg-BG" sz="1200"/>
              <a:t>пред гишетата</a:t>
            </a:r>
            <a:endParaRPr lang="en-US" sz="12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733386" y="2372963"/>
            <a:ext cx="1743362" cy="6376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Някои документи </a:t>
            </a:r>
            <a:br>
              <a:rPr lang="bg-BG" sz="1200"/>
            </a:br>
            <a:r>
              <a:rPr lang="bg-BG" sz="1200"/>
              <a:t>се обработват </a:t>
            </a:r>
            <a:br>
              <a:rPr lang="bg-BG" sz="1200"/>
            </a:br>
            <a:r>
              <a:rPr lang="bg-BG" sz="1200"/>
              <a:t>дълго време</a:t>
            </a:r>
            <a:endParaRPr lang="en-US" sz="12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09701" y="3676826"/>
            <a:ext cx="1743362" cy="5838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Въвеждат се много </a:t>
            </a:r>
            <a:br>
              <a:rPr lang="bg-BG" sz="1200"/>
            </a:br>
            <a:r>
              <a:rPr lang="bg-BG" sz="1200"/>
              <a:t>ненужни данни </a:t>
            </a:r>
            <a:br>
              <a:rPr lang="bg-BG" sz="1200"/>
            </a:br>
            <a:r>
              <a:rPr lang="bg-BG" sz="1200"/>
              <a:t>от служителя</a:t>
            </a:r>
            <a:endParaRPr lang="en-US" sz="12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12011" y="2132856"/>
            <a:ext cx="1810415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Грешно попълнени</a:t>
            </a:r>
            <a:br>
              <a:rPr lang="bg-BG" sz="1200"/>
            </a:br>
            <a:r>
              <a:rPr lang="bg-BG" sz="1200"/>
              <a:t>документи от клиента</a:t>
            </a:r>
            <a:endParaRPr lang="en-US" sz="12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823546" y="2766697"/>
            <a:ext cx="1798879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Клиентът представя </a:t>
            </a:r>
            <a:br>
              <a:rPr lang="bg-BG" sz="1200"/>
            </a:br>
            <a:r>
              <a:rPr lang="bg-BG" sz="1200"/>
              <a:t>непълни документи</a:t>
            </a:r>
            <a:endParaRPr lang="en-US" sz="12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877577" y="3735044"/>
            <a:ext cx="1798879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Нормативни изисквания</a:t>
            </a:r>
            <a:endParaRPr lang="en-US" sz="120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788867" y="5013176"/>
            <a:ext cx="1609257" cy="6368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Усилия и време за </a:t>
            </a:r>
            <a:br>
              <a:rPr lang="bg-BG" sz="1200"/>
            </a:br>
            <a:r>
              <a:rPr lang="bg-BG" sz="1200"/>
              <a:t>попълване на </a:t>
            </a:r>
            <a:br>
              <a:rPr lang="bg-BG" sz="1200"/>
            </a:br>
            <a:r>
              <a:rPr lang="bg-BG" sz="1200"/>
              <a:t>формуляра</a:t>
            </a:r>
            <a:endParaRPr lang="en-US" sz="12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5001596" y="4480202"/>
            <a:ext cx="1609257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Неясни указания</a:t>
            </a:r>
            <a:endParaRPr lang="en-US" sz="12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001596" y="5066741"/>
            <a:ext cx="1609257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Технически данни</a:t>
            </a:r>
            <a:endParaRPr lang="en-US" sz="12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018326" y="5697153"/>
            <a:ext cx="1609257" cy="4681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200"/>
              <a:t>Сложни формуляри</a:t>
            </a:r>
            <a:endParaRPr lang="en-US" sz="1200"/>
          </a:p>
        </p:txBody>
      </p:sp>
      <p:cxnSp>
        <p:nvCxnSpPr>
          <p:cNvPr id="18" name="Straight Connector 17"/>
          <p:cNvCxnSpPr/>
          <p:nvPr/>
        </p:nvCxnSpPr>
        <p:spPr>
          <a:xfrm>
            <a:off x="2447925" y="3398838"/>
            <a:ext cx="7938" cy="1885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333625" y="4441825"/>
            <a:ext cx="120650" cy="85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454275" y="3398838"/>
            <a:ext cx="3317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55863" y="5284788"/>
            <a:ext cx="333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32313" y="2713038"/>
            <a:ext cx="7937" cy="12557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395788" y="3368675"/>
            <a:ext cx="1444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38663" y="2709863"/>
            <a:ext cx="1666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540250" y="3973513"/>
            <a:ext cx="269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648450" y="2366963"/>
            <a:ext cx="0" cy="6429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477000" y="2711450"/>
            <a:ext cx="1444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638925" y="2373313"/>
            <a:ext cx="16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651625" y="3009900"/>
            <a:ext cx="161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53200" y="3968750"/>
            <a:ext cx="323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56138" y="4714875"/>
            <a:ext cx="9525" cy="12128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422775" y="5303838"/>
            <a:ext cx="2397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673600" y="4719638"/>
            <a:ext cx="3317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675188" y="5927725"/>
            <a:ext cx="333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665663" y="5311775"/>
            <a:ext cx="333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3812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84213" y="2420938"/>
            <a:ext cx="8064500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76200" algn="l">
              <a:spcBef>
                <a:spcPct val="20000"/>
              </a:spcBef>
            </a:pPr>
            <a:r>
              <a:rPr lang="bg-BG" sz="2000" dirty="0">
                <a:latin typeface="Cambria" pitchFamily="18" charset="0"/>
              </a:rPr>
              <a:t>4. Обосновка на решения за промяна</a:t>
            </a: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Заключения за процесите – функционират задоволително или са нужни промени;</a:t>
            </a: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Разработване на варианти на промени в процесите или решения, свързани с ресурсите (хората) и технологиите;</a:t>
            </a:r>
          </a:p>
          <a:p>
            <a:pPr marL="876300" lvl="1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2000" dirty="0">
                <a:latin typeface="Cambria" pitchFamily="18" charset="0"/>
              </a:rPr>
              <a:t>Обосновка на варианти на коригиращи и превантивни мерки</a:t>
            </a:r>
          </a:p>
          <a:p>
            <a:pPr marL="1333500" lvl="2" indent="-3429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bg-BG" dirty="0">
                <a:latin typeface="Cambria" pitchFamily="18" charset="0"/>
              </a:rPr>
              <a:t>Целта е постигане на съгласувани и одобрени варианти на коригиращи и превантивни мерки чрез групов процес на обсъждане и вземане на решения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1479550"/>
            <a:ext cx="8229600" cy="8699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dirty="0">
                <a:solidFill>
                  <a:schemeClr val="tx1"/>
                </a:solidFill>
                <a:latin typeface="Cambria" pitchFamily="18" charset="0"/>
              </a:rPr>
              <a:t>Основни стъпки за анализ и подобряване на процесите (4)</a:t>
            </a:r>
            <a:endParaRPr lang="en-US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1331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1913282-BF14-42A2-996A-D9DBE5C33257}" type="slidenum">
              <a:rPr lang="bg-BG"/>
              <a:pPr eaLnBrk="1" hangingPunct="1"/>
              <a:t>38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01390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755997" y="1124744"/>
            <a:ext cx="7344395" cy="5762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0" indent="0" algn="ctr">
              <a:buNone/>
            </a:pPr>
            <a:r>
              <a:rPr lang="bg-BG" sz="2400" b="1" dirty="0">
                <a:solidFill>
                  <a:schemeClr val="tx1"/>
                </a:solidFill>
                <a:latin typeface="Cambria" pitchFamily="18" charset="0"/>
                <a:ea typeface="+mj-ea"/>
                <a:cs typeface="Times New Roman" pitchFamily="18" charset="0"/>
              </a:rPr>
              <a:t>Анализ на работните процеси с оглед КАО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11560" y="1701007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bg-BG" b="1" dirty="0"/>
              <a:t>Нови канали за заявяване на услугата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491880" y="1719263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bg-BG" b="1" dirty="0"/>
              <a:t>Нови канали за </a:t>
            </a:r>
            <a:r>
              <a:rPr lang="bg-BG" b="1" dirty="0" smtClean="0"/>
              <a:t>предоставяне на </a:t>
            </a:r>
            <a:r>
              <a:rPr lang="bg-BG" b="1" dirty="0"/>
              <a:t>услугата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3491880" y="3284984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bg-BG" b="1" dirty="0"/>
              <a:t>Вътрешни </a:t>
            </a:r>
            <a:r>
              <a:rPr lang="bg-BG" b="1" dirty="0" err="1" smtClean="0"/>
              <a:t>администр</a:t>
            </a:r>
            <a:r>
              <a:rPr lang="bg-BG" b="1" dirty="0" smtClean="0"/>
              <a:t>.</a:t>
            </a:r>
          </a:p>
          <a:p>
            <a:r>
              <a:rPr lang="bg-BG" b="1" dirty="0" smtClean="0"/>
              <a:t>услуги</a:t>
            </a:r>
            <a:endParaRPr lang="bg-BG" b="1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611560" y="3284984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bg-BG" b="1" dirty="0" smtClean="0"/>
              <a:t>Интеграция с ИТ системи</a:t>
            </a:r>
            <a:endParaRPr lang="bg-BG" b="1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6372200" y="1701007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bg-BG" b="1" dirty="0" smtClean="0"/>
              <a:t>Интеграция с външни регистри</a:t>
            </a:r>
            <a:endParaRPr lang="bg-BG" b="1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372200" y="3284984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bg-BG" b="1" dirty="0"/>
              <a:t>Подобрение на вътрешния процес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491880" y="4750094"/>
            <a:ext cx="2088232" cy="1296144"/>
          </a:xfrm>
          <a:prstGeom prst="round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bg-BG" b="1" dirty="0" smtClean="0"/>
              <a:t>Нормативна уредба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141262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115616" y="2276872"/>
            <a:ext cx="727280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algn="l" eaLnBrk="0" hangingPunct="0">
              <a:spcBef>
                <a:spcPct val="20000"/>
              </a:spcBef>
            </a:pPr>
            <a:r>
              <a:rPr lang="bg-BG" sz="2000" dirty="0" smtClean="0">
                <a:latin typeface="Cambria" pitchFamily="18" charset="0"/>
                <a:cs typeface="Times New Roman" pitchFamily="18" charset="0"/>
              </a:rPr>
              <a:t>Цел:</a:t>
            </a:r>
          </a:p>
          <a:p>
            <a:pPr marL="800100" lvl="1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Дефиниране на съвкупност </a:t>
            </a:r>
            <a:r>
              <a:rPr lang="bg-BG" dirty="0">
                <a:latin typeface="Cambria" pitchFamily="18" charset="0"/>
              </a:rPr>
              <a:t>от мерки или инициативи за промяна на процесите с цел повишаване тяхната ефективност и </a:t>
            </a:r>
            <a:r>
              <a:rPr lang="bg-BG" dirty="0" smtClean="0">
                <a:latin typeface="Cambria" pitchFamily="18" charset="0"/>
              </a:rPr>
              <a:t>ефикасност;</a:t>
            </a:r>
          </a:p>
          <a:p>
            <a:pPr marL="800100" lvl="1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bg-BG" dirty="0" smtClean="0">
              <a:latin typeface="Cambria" pitchFamily="18" charset="0"/>
            </a:endParaRPr>
          </a:p>
          <a:p>
            <a:pPr marL="800100" lvl="1" indent="-342900" algn="l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Осигуряване на </a:t>
            </a:r>
            <a:r>
              <a:rPr lang="bg-BG" dirty="0">
                <a:latin typeface="Cambria" pitchFamily="18" charset="0"/>
              </a:rPr>
              <a:t>необходимите организационни, технологични и законови предпоставки, за да се внедрят подобрените процеси. </a:t>
            </a:r>
          </a:p>
          <a:p>
            <a:pPr marL="342900" indent="-342900" algn="l" eaLnBrk="0" hangingPunct="0">
              <a:spcBef>
                <a:spcPct val="20000"/>
              </a:spcBef>
              <a:buFont typeface="Wingdings" pitchFamily="2" charset="2"/>
              <a:buChar char="Ø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dirty="0" smtClean="0">
                <a:solidFill>
                  <a:schemeClr val="tx1"/>
                </a:solidFill>
                <a:latin typeface="Cambria" pitchFamily="18" charset="0"/>
              </a:rPr>
              <a:t>ЕТАП 5: Проектиране на процесите в бъдещо състояние и внедряване</a:t>
            </a:r>
            <a:endParaRPr lang="bg-BG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914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115616" y="2276872"/>
            <a:ext cx="727280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457200" indent="-457200" algn="l">
              <a:spcBef>
                <a:spcPct val="2000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Проектиране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процесите в бъдещо състояние</a:t>
            </a:r>
          </a:p>
          <a:p>
            <a:pPr marL="457200" indent="-457200" algn="l" eaLnBrk="0" hangingPunct="0">
              <a:spcBef>
                <a:spcPct val="2000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Обезпечаване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човешки ресурси за изпълнение на новите процеси</a:t>
            </a:r>
          </a:p>
          <a:p>
            <a:pPr marL="457200" indent="-457200" algn="l" eaLnBrk="0" hangingPunct="0">
              <a:spcBef>
                <a:spcPct val="2000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Осигуряване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техническа инфраструктура за изпълнение на новите процеси</a:t>
            </a:r>
          </a:p>
          <a:p>
            <a:pPr marL="457200" indent="-457200" algn="l" eaLnBrk="0" hangingPunct="0">
              <a:spcBef>
                <a:spcPct val="2000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Актуализиране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вътрешните правила и процедури в администрацията</a:t>
            </a:r>
          </a:p>
          <a:p>
            <a:pPr marL="457200" indent="-457200" algn="l" eaLnBrk="0" hangingPunct="0">
              <a:spcBef>
                <a:spcPct val="20000"/>
              </a:spcBef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Внедряване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новите процеси</a:t>
            </a:r>
          </a:p>
          <a:p>
            <a:pPr algn="l" eaLnBrk="0" hangingPunct="0">
              <a:spcBef>
                <a:spcPct val="20000"/>
              </a:spcBef>
              <a:buFontTx/>
              <a:buChar char="•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в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</a:t>
            </a:r>
          </a:p>
        </p:txBody>
      </p:sp>
    </p:spTree>
    <p:extLst>
      <p:ext uri="{BB962C8B-B14F-4D97-AF65-F5344CB8AC3E}">
        <p14:creationId xmlns:p14="http://schemas.microsoft.com/office/powerpoint/2010/main" val="1061296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899592" y="2132856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457200" indent="-457200" algn="l">
              <a:spcBef>
                <a:spcPct val="20000"/>
              </a:spcBef>
              <a:buFont typeface="+mj-lt"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Проектиране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процесите в бъдещо 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състояние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Формализиране на изискванията </a:t>
            </a:r>
            <a:r>
              <a:rPr lang="bg-BG" dirty="0">
                <a:latin typeface="Cambria" pitchFamily="18" charset="0"/>
              </a:rPr>
              <a:t>и мерките за промяна на процесите спрямо новия начин на работа в </a:t>
            </a:r>
            <a:r>
              <a:rPr lang="bg-BG" dirty="0" smtClean="0">
                <a:latin typeface="Cambria" pitchFamily="18" charset="0"/>
              </a:rPr>
              <a:t>администрацията;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Осигуряване, че предложените </a:t>
            </a:r>
            <a:r>
              <a:rPr lang="bg-BG" dirty="0">
                <a:latin typeface="Cambria" pitchFamily="18" charset="0"/>
              </a:rPr>
              <a:t>мерки и инициативи съответстват на стратегията и целите на администрацията и </a:t>
            </a:r>
            <a:r>
              <a:rPr lang="bg-BG" dirty="0" smtClean="0">
                <a:latin typeface="Cambria" pitchFamily="18" charset="0"/>
              </a:rPr>
              <a:t>има условия </a:t>
            </a:r>
            <a:r>
              <a:rPr lang="bg-BG" dirty="0">
                <a:latin typeface="Cambria" pitchFamily="18" charset="0"/>
              </a:rPr>
              <a:t>за внедряването </a:t>
            </a:r>
            <a:r>
              <a:rPr lang="bg-BG" dirty="0" smtClean="0">
                <a:latin typeface="Cambria" pitchFamily="18" charset="0"/>
              </a:rPr>
              <a:t>им;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Оценяване на варианти на </a:t>
            </a:r>
            <a:r>
              <a:rPr lang="bg-BG" dirty="0">
                <a:latin typeface="Cambria" pitchFamily="18" charset="0"/>
              </a:rPr>
              <a:t>решения, </a:t>
            </a:r>
            <a:r>
              <a:rPr lang="bg-BG" dirty="0" smtClean="0">
                <a:latin typeface="Cambria" pitchFamily="18" charset="0"/>
              </a:rPr>
              <a:t>за да </a:t>
            </a:r>
            <a:r>
              <a:rPr lang="bg-BG" dirty="0">
                <a:latin typeface="Cambria" pitchFamily="18" charset="0"/>
              </a:rPr>
              <a:t>се избере оптимален, изпълним вариант за </a:t>
            </a:r>
            <a:r>
              <a:rPr lang="bg-BG" dirty="0" smtClean="0">
                <a:latin typeface="Cambria" pitchFamily="18" charset="0"/>
              </a:rPr>
              <a:t>администрацията;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Анализ на допускания и ограничения, свързани с процесите;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Осигуряване на </a:t>
            </a:r>
            <a:r>
              <a:rPr lang="bg-BG" dirty="0" err="1" smtClean="0">
                <a:latin typeface="Cambria" pitchFamily="18" charset="0"/>
              </a:rPr>
              <a:t>проследимост</a:t>
            </a:r>
            <a:r>
              <a:rPr lang="bg-BG" dirty="0" smtClean="0">
                <a:latin typeface="Cambria" pitchFamily="18" charset="0"/>
              </a:rPr>
              <a:t> </a:t>
            </a:r>
            <a:r>
              <a:rPr lang="bg-BG" dirty="0">
                <a:latin typeface="Cambria" pitchFamily="18" charset="0"/>
              </a:rPr>
              <a:t>на изискванията в следващите етапи на реализация и контрол на процесите в реални условия</a:t>
            </a:r>
          </a:p>
          <a:p>
            <a:pPr marL="914400" lvl="1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ru-RU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spcBef>
                <a:spcPct val="20000"/>
              </a:spcBef>
              <a:buFontTx/>
              <a:buChar char="•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1052736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внедряване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(1)</a:t>
            </a:r>
          </a:p>
        </p:txBody>
      </p:sp>
    </p:spTree>
    <p:extLst>
      <p:ext uri="{BB962C8B-B14F-4D97-AF65-F5344CB8AC3E}">
        <p14:creationId xmlns:p14="http://schemas.microsoft.com/office/powerpoint/2010/main" val="10211830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11560" y="2132856"/>
            <a:ext cx="8136904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355600" indent="-355600" algn="l" eaLnBrk="0" hangingPunct="0">
              <a:spcBef>
                <a:spcPct val="20000"/>
              </a:spcBef>
              <a:spcAft>
                <a:spcPts val="1200"/>
              </a:spcAft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2. Обезпечаване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на човешки ресурси за изпълнение на новите 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процеси – осигуряване на ефективното участие на хората </a:t>
            </a:r>
            <a:endParaRPr lang="ru-RU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Подбор </a:t>
            </a:r>
            <a:r>
              <a:rPr lang="bg-BG" dirty="0">
                <a:latin typeface="Cambria" pitchFamily="18" charset="0"/>
              </a:rPr>
              <a:t>и назначаване – правила и политики за идентифициране на роли и отговорности и подбор на подходящите </a:t>
            </a:r>
            <a:r>
              <a:rPr lang="bg-BG" dirty="0" smtClean="0">
                <a:latin typeface="Cambria" pitchFamily="18" charset="0"/>
              </a:rPr>
              <a:t>хора с необходимите </a:t>
            </a:r>
            <a:r>
              <a:rPr lang="bg-BG" dirty="0">
                <a:latin typeface="Cambria" pitchFamily="18" charset="0"/>
              </a:rPr>
              <a:t>знания, умения и отношение към работата, </a:t>
            </a:r>
            <a:r>
              <a:rPr lang="bg-BG" dirty="0" smtClean="0">
                <a:latin typeface="Cambria" pitchFamily="18" charset="0"/>
              </a:rPr>
              <a:t>и процедури </a:t>
            </a:r>
            <a:r>
              <a:rPr lang="bg-BG" dirty="0">
                <a:latin typeface="Cambria" pitchFamily="18" charset="0"/>
              </a:rPr>
              <a:t>за назначаване и въвеждане в длъжност;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Обучение и развитие – </a:t>
            </a:r>
            <a:r>
              <a:rPr lang="bg-BG" dirty="0" smtClean="0">
                <a:latin typeface="Cambria" pitchFamily="18" charset="0"/>
              </a:rPr>
              <a:t>развиване </a:t>
            </a:r>
            <a:r>
              <a:rPr lang="bg-BG" dirty="0">
                <a:latin typeface="Cambria" pitchFamily="18" charset="0"/>
              </a:rPr>
              <a:t>на компетенциите на хората съобразно изискванията за изпълнение на работните процеси и за професионалното им </a:t>
            </a:r>
            <a:r>
              <a:rPr lang="bg-BG" dirty="0" smtClean="0">
                <a:latin typeface="Cambria" pitchFamily="18" charset="0"/>
              </a:rPr>
              <a:t>развитие </a:t>
            </a:r>
            <a:r>
              <a:rPr lang="bg-BG" dirty="0">
                <a:latin typeface="Cambria" pitchFamily="18" charset="0"/>
              </a:rPr>
              <a:t>в крак с развитието на технологиите</a:t>
            </a:r>
            <a:r>
              <a:rPr lang="bg-BG" dirty="0" smtClean="0">
                <a:latin typeface="Cambria" pitchFamily="18" charset="0"/>
              </a:rPr>
              <a:t>;</a:t>
            </a:r>
            <a:endParaRPr lang="bg-BG" dirty="0">
              <a:latin typeface="Cambria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Оценяване и възнаграждаване – </a:t>
            </a:r>
            <a:r>
              <a:rPr lang="bg-BG" dirty="0" smtClean="0">
                <a:latin typeface="Cambria" pitchFamily="18" charset="0"/>
              </a:rPr>
              <a:t>системи </a:t>
            </a:r>
            <a:r>
              <a:rPr lang="bg-BG" dirty="0">
                <a:latin typeface="Cambria" pitchFamily="18" charset="0"/>
              </a:rPr>
              <a:t>за атестация и заплащане, стимулиране и санкциониране, базирани на възприет модел за развитие на компетенциите на работната сила.</a:t>
            </a:r>
          </a:p>
          <a:p>
            <a:pPr marL="1371600" lvl="2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ru-RU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spcBef>
                <a:spcPct val="20000"/>
              </a:spcBef>
              <a:buFontTx/>
              <a:buChar char="•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980728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внедряване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(2)</a:t>
            </a:r>
          </a:p>
        </p:txBody>
      </p:sp>
    </p:spTree>
    <p:extLst>
      <p:ext uri="{BB962C8B-B14F-4D97-AF65-F5344CB8AC3E}">
        <p14:creationId xmlns:p14="http://schemas.microsoft.com/office/powerpoint/2010/main" val="2088740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11560" y="2132856"/>
            <a:ext cx="8280920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355600" indent="-355600" algn="l" eaLnBrk="0" hangingPunct="0">
              <a:spcBef>
                <a:spcPct val="20000"/>
              </a:spcBef>
              <a:spcAft>
                <a:spcPts val="1200"/>
              </a:spcAft>
            </a:pP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3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.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Осигуряване на техническа инфраструктура за изпълнение на новите 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процеси </a:t>
            </a:r>
            <a:endParaRPr lang="ru-RU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Софтуер – включва две основни групи продукти: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приложни системи, които осигуряват автоматизацията на процеси или стъпки от процеси;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базов и системен софтуер  </a:t>
            </a:r>
            <a:r>
              <a:rPr lang="bg-BG" dirty="0" smtClean="0">
                <a:latin typeface="Cambria" pitchFamily="18" charset="0"/>
              </a:rPr>
              <a:t>- операционни </a:t>
            </a:r>
            <a:r>
              <a:rPr lang="bg-BG" dirty="0">
                <a:latin typeface="Cambria" pitchFamily="18" charset="0"/>
              </a:rPr>
              <a:t>системи, технологични платформи, СУБД и др., които обезпечават функционирането на приложните системи;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Хардуерно оборудване – сървърни платформи, потребителски компютри, периферни устройства и др.;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Инфраструктура – помещения за обслужване на </a:t>
            </a:r>
            <a:r>
              <a:rPr lang="bg-BG" dirty="0" smtClean="0">
                <a:latin typeface="Cambria" pitchFamily="18" charset="0"/>
              </a:rPr>
              <a:t>клиенти и </a:t>
            </a:r>
            <a:r>
              <a:rPr lang="bg-BG" dirty="0">
                <a:latin typeface="Cambria" pitchFamily="18" charset="0"/>
              </a:rPr>
              <a:t>за </a:t>
            </a:r>
            <a:r>
              <a:rPr lang="bg-BG" dirty="0" smtClean="0">
                <a:latin typeface="Cambria" pitchFamily="18" charset="0"/>
              </a:rPr>
              <a:t>хардуерното </a:t>
            </a:r>
            <a:r>
              <a:rPr lang="bg-BG" dirty="0">
                <a:latin typeface="Cambria" pitchFamily="18" charset="0"/>
              </a:rPr>
              <a:t>оборудване, структурно окабеляване и др.;</a:t>
            </a: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К</a:t>
            </a:r>
            <a:r>
              <a:rPr lang="bg-BG" dirty="0" smtClean="0">
                <a:latin typeface="Cambria" pitchFamily="18" charset="0"/>
              </a:rPr>
              <a:t>онсумативи</a:t>
            </a:r>
            <a:r>
              <a:rPr lang="bg-BG" dirty="0">
                <a:latin typeface="Cambria" pitchFamily="18" charset="0"/>
              </a:rPr>
              <a:t>, сервизно </a:t>
            </a:r>
            <a:r>
              <a:rPr lang="bg-BG" dirty="0" smtClean="0">
                <a:latin typeface="Cambria" pitchFamily="18" charset="0"/>
              </a:rPr>
              <a:t>обслужване, профилактика и др.</a:t>
            </a:r>
            <a:endParaRPr lang="bg-BG" dirty="0">
              <a:latin typeface="Cambria" pitchFamily="18" charset="0"/>
            </a:endParaRPr>
          </a:p>
          <a:p>
            <a:pPr marL="1371600" lvl="2" indent="-457200" algn="l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Ø"/>
            </a:pPr>
            <a:endParaRPr lang="ru-RU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spcBef>
                <a:spcPct val="20000"/>
              </a:spcBef>
              <a:buFontTx/>
              <a:buChar char="•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980728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внедряване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(3)</a:t>
            </a:r>
          </a:p>
        </p:txBody>
      </p:sp>
    </p:spTree>
    <p:extLst>
      <p:ext uri="{BB962C8B-B14F-4D97-AF65-F5344CB8AC3E}">
        <p14:creationId xmlns:p14="http://schemas.microsoft.com/office/powerpoint/2010/main" val="1404892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11560" y="2132856"/>
            <a:ext cx="8280920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355600" indent="-355600" algn="l" eaLnBrk="0" hangingPunct="0">
              <a:spcBef>
                <a:spcPct val="20000"/>
              </a:spcBef>
              <a:spcAft>
                <a:spcPts val="1200"/>
              </a:spcAft>
            </a:pP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4. </a:t>
            </a: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Актуализиране на вътрешните правила и процедури в 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администрацията</a:t>
            </a:r>
            <a:endParaRPr lang="ru-RU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marL="742950" lvl="1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Актуализиране на документи:</a:t>
            </a:r>
            <a:endParaRPr lang="bg-BG" dirty="0">
              <a:latin typeface="Cambria" pitchFamily="18" charset="0"/>
            </a:endParaRP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Шаблони на документи (формуляри);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 smtClean="0">
                <a:latin typeface="Cambria" pitchFamily="18" charset="0"/>
              </a:rPr>
              <a:t>Указания </a:t>
            </a:r>
            <a:r>
              <a:rPr lang="bg-BG" sz="1600" dirty="0">
                <a:latin typeface="Cambria" pitchFamily="18" charset="0"/>
              </a:rPr>
              <a:t>за заявяване на услугите по различни </a:t>
            </a:r>
            <a:r>
              <a:rPr lang="bg-BG" sz="1600" dirty="0" smtClean="0">
                <a:latin typeface="Cambria" pitchFamily="18" charset="0"/>
              </a:rPr>
              <a:t>канали;</a:t>
            </a:r>
            <a:endParaRPr lang="bg-BG" sz="1600" dirty="0">
              <a:latin typeface="Cambria" pitchFamily="18" charset="0"/>
            </a:endParaRP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Вътрешни процедури и инструкции съобразно внедрената система за управление на качеството;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Наредби и правилници;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Вътрешни правила за оборот на електронни документи и документи на хартиен </a:t>
            </a:r>
            <a:r>
              <a:rPr lang="bg-BG" sz="1600" dirty="0" smtClean="0">
                <a:latin typeface="Cambria" pitchFamily="18" charset="0"/>
              </a:rPr>
              <a:t>носител</a:t>
            </a:r>
            <a:r>
              <a:rPr lang="bg-BG" sz="1600" dirty="0">
                <a:latin typeface="Cambria" pitchFamily="18" charset="0"/>
              </a:rPr>
              <a:t>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Ръководства на потребителите за работа със софтуерни приложения;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Заявления за вписване на информационни обекти в регистрите за оперативна </a:t>
            </a:r>
            <a:r>
              <a:rPr lang="bg-BG" dirty="0" smtClean="0">
                <a:latin typeface="Cambria" pitchFamily="18" charset="0"/>
              </a:rPr>
              <a:t>съвместимост;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sz="1600" dirty="0">
                <a:latin typeface="Cambria" pitchFamily="18" charset="0"/>
              </a:rPr>
              <a:t>З</a:t>
            </a:r>
            <a:r>
              <a:rPr lang="bg-BG" sz="1600" dirty="0" smtClean="0">
                <a:latin typeface="Cambria" pitchFamily="18" charset="0"/>
              </a:rPr>
              <a:t>аповеди</a:t>
            </a:r>
            <a:r>
              <a:rPr lang="bg-BG" sz="1600" dirty="0">
                <a:latin typeface="Cambria" pitchFamily="18" charset="0"/>
              </a:rPr>
              <a:t>.</a:t>
            </a:r>
            <a:endParaRPr lang="ru-RU" sz="16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algn="l" eaLnBrk="0" hangingPunct="0">
              <a:spcBef>
                <a:spcPct val="20000"/>
              </a:spcBef>
              <a:buFontTx/>
              <a:buChar char="•"/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980728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внедряване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(4)</a:t>
            </a:r>
          </a:p>
        </p:txBody>
      </p:sp>
    </p:spTree>
    <p:extLst>
      <p:ext uri="{BB962C8B-B14F-4D97-AF65-F5344CB8AC3E}">
        <p14:creationId xmlns:p14="http://schemas.microsoft.com/office/powerpoint/2010/main" val="9316785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827584" y="2136661"/>
            <a:ext cx="8064896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7" rIns="91433" bIns="45717"/>
          <a:lstStyle/>
          <a:p>
            <a:pPr marL="355600" indent="-355600" algn="l" eaLnBrk="0" hangingPunct="0">
              <a:spcBef>
                <a:spcPct val="20000"/>
              </a:spcBef>
              <a:spcAft>
                <a:spcPts val="1200"/>
              </a:spcAft>
            </a:pPr>
            <a:r>
              <a:rPr lang="ru-RU" sz="2000" dirty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5</a:t>
            </a:r>
            <a:r>
              <a:rPr lang="ru-RU" sz="2000" dirty="0" smtClean="0">
                <a:solidFill>
                  <a:srgbClr val="000000"/>
                </a:solidFill>
                <a:latin typeface="Cambria" pitchFamily="18" charset="0"/>
                <a:cs typeface="Times New Roman" pitchFamily="18" charset="0"/>
              </a:rPr>
              <a:t>. Внедряване на новите процеси</a:t>
            </a:r>
            <a:endParaRPr lang="ru-RU" sz="2000" dirty="0">
              <a:solidFill>
                <a:srgbClr val="000000"/>
              </a:solidFill>
              <a:latin typeface="Cambria" pitchFamily="18" charset="0"/>
              <a:cs typeface="Times New Roman" pitchFamily="18" charset="0"/>
            </a:endParaRPr>
          </a:p>
          <a:p>
            <a:pPr marL="28575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Ръководството трябва да се увери, че служителите могат (компетенции) и искат (мотивация) да изпълняват процесите по новия </a:t>
            </a:r>
            <a:r>
              <a:rPr lang="bg-BG" dirty="0" smtClean="0">
                <a:latin typeface="Cambria" pitchFamily="18" charset="0"/>
              </a:rPr>
              <a:t>начин.</a:t>
            </a:r>
            <a:endParaRPr lang="bg-BG" dirty="0">
              <a:latin typeface="Cambria" pitchFamily="18" charset="0"/>
            </a:endParaRP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Администрацията трябва да събере обратна връзка от клиентите и служителите за изпълнението на процеса;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Администрацията трябва да има готовност за „промени в движение“;</a:t>
            </a:r>
          </a:p>
          <a:p>
            <a:pPr marL="285750" lvl="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Администрацията трябва да въведе механизми, с които да се увери, че процесите се изпълняват по предписания начин.</a:t>
            </a:r>
          </a:p>
          <a:p>
            <a:pPr marL="1200150" lvl="2" indent="-285750" algn="l">
              <a:buClr>
                <a:srgbClr val="C00000"/>
              </a:buClr>
              <a:buFont typeface="Wingdings" pitchFamily="2" charset="2"/>
              <a:buChar char="Ø"/>
            </a:pPr>
            <a:endParaRPr lang="bg-BG" sz="1600" dirty="0" smtClean="0">
              <a:latin typeface="Cambria" pitchFamily="18" charset="0"/>
            </a:endParaRPr>
          </a:p>
          <a:p>
            <a:pPr algn="l" eaLnBrk="0" hangingPunct="0">
              <a:spcBef>
                <a:spcPct val="20000"/>
              </a:spcBef>
            </a:pPr>
            <a:endParaRPr lang="bg-BG" sz="2400" b="1" dirty="0"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9750" y="980728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3" tIns="45717" rIns="91433" bIns="45717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Основни стъпки за </a:t>
            </a: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внедряване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на работните процеси (5)</a:t>
            </a:r>
          </a:p>
        </p:txBody>
      </p:sp>
    </p:spTree>
    <p:extLst>
      <p:ext uri="{BB962C8B-B14F-4D97-AF65-F5344CB8AC3E}">
        <p14:creationId xmlns:p14="http://schemas.microsoft.com/office/powerpoint/2010/main" val="41250161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bg-BG" kern="1200" dirty="0" smtClean="0">
                <a:solidFill>
                  <a:schemeClr val="tx1"/>
                </a:solidFill>
                <a:latin typeface="Cambria" pitchFamily="18" charset="0"/>
              </a:rPr>
              <a:t>ЕТАП 6: Мониторинг </a:t>
            </a:r>
            <a:r>
              <a:rPr lang="bg-BG" kern="1200" dirty="0">
                <a:solidFill>
                  <a:schemeClr val="tx1"/>
                </a:solidFill>
                <a:latin typeface="Cambria" pitchFamily="18" charset="0"/>
              </a:rPr>
              <a:t>и контрол на работните процеси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626AB-1411-425A-B683-7DBC1CCA057D}" type="slidenum">
              <a:rPr lang="bg-BG" smtClean="0"/>
              <a:pPr/>
              <a:t>47</a:t>
            </a:fld>
            <a:endParaRPr lang="bg-BG"/>
          </a:p>
        </p:txBody>
      </p:sp>
      <p:sp>
        <p:nvSpPr>
          <p:cNvPr id="4" name="Rectangle 3"/>
          <p:cNvSpPr/>
          <p:nvPr/>
        </p:nvSpPr>
        <p:spPr>
          <a:xfrm>
            <a:off x="611562" y="2564904"/>
            <a:ext cx="820891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bg-BG" sz="2000" dirty="0" smtClean="0">
                <a:latin typeface="Cambria" pitchFamily="18" charset="0"/>
              </a:rPr>
              <a:t>Цел:</a:t>
            </a:r>
          </a:p>
          <a:p>
            <a:pPr marL="28575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>
                <a:latin typeface="Cambria" pitchFamily="18" charset="0"/>
              </a:rPr>
              <a:t>Д</a:t>
            </a:r>
            <a:r>
              <a:rPr lang="bg-BG" dirty="0" smtClean="0">
                <a:latin typeface="Cambria" pitchFamily="18" charset="0"/>
              </a:rPr>
              <a:t>а </a:t>
            </a:r>
            <a:r>
              <a:rPr lang="bg-BG" dirty="0">
                <a:latin typeface="Cambria" pitchFamily="18" charset="0"/>
              </a:rPr>
              <a:t>се осигури устойчиво развитие на внедрените мерки за подобрение на процесите, така че да се превърнат в обичаен, рутинен начин за изпълнение на дейността в администрацията</a:t>
            </a:r>
            <a:r>
              <a:rPr lang="bg-BG" dirty="0" smtClean="0">
                <a:latin typeface="Cambria" pitchFamily="18" charset="0"/>
              </a:rPr>
              <a:t>.</a:t>
            </a:r>
          </a:p>
          <a:p>
            <a:pPr marL="285750" indent="-285750" algn="l">
              <a:buClr>
                <a:srgbClr val="C00000"/>
              </a:buClr>
              <a:buFont typeface="Wingdings" pitchFamily="2" charset="2"/>
              <a:buChar char="Ø"/>
            </a:pPr>
            <a:endParaRPr lang="bg-BG" dirty="0" smtClean="0">
              <a:latin typeface="Cambria" pitchFamily="18" charset="0"/>
            </a:endParaRPr>
          </a:p>
          <a:p>
            <a:pPr marL="285750" indent="-285750" algn="l">
              <a:buClr>
                <a:srgbClr val="C00000"/>
              </a:buClr>
              <a:buFont typeface="Wingdings" pitchFamily="2" charset="2"/>
              <a:buChar char="Ø"/>
            </a:pPr>
            <a:r>
              <a:rPr lang="bg-BG" dirty="0" smtClean="0">
                <a:latin typeface="Cambria" pitchFamily="18" charset="0"/>
              </a:rPr>
              <a:t>Да се осигури, че направените </a:t>
            </a:r>
            <a:r>
              <a:rPr lang="bg-BG" dirty="0">
                <a:latin typeface="Cambria" pitchFamily="18" charset="0"/>
              </a:rPr>
              <a:t>инвестиции в обучение, софтуерни приложения, канали за </a:t>
            </a:r>
            <a:r>
              <a:rPr lang="bg-BG" dirty="0" smtClean="0">
                <a:latin typeface="Cambria" pitchFamily="18" charset="0"/>
              </a:rPr>
              <a:t>достъп и др., ще бъдат поддържани </a:t>
            </a:r>
            <a:r>
              <a:rPr lang="bg-BG" dirty="0">
                <a:latin typeface="Cambria" pitchFamily="18" charset="0"/>
              </a:rPr>
              <a:t>и развивани </a:t>
            </a:r>
            <a:r>
              <a:rPr lang="bg-BG" dirty="0" smtClean="0">
                <a:latin typeface="Cambria" pitchFamily="18" charset="0"/>
              </a:rPr>
              <a:t>в бъдеще.</a:t>
            </a:r>
            <a:endParaRPr lang="bg-BG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bg-BG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bg-BG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тема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тема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3111</TotalTime>
  <Words>2481</Words>
  <Application>Microsoft Macintosh PowerPoint</Application>
  <PresentationFormat>On-screen Show (4:3)</PresentationFormat>
  <Paragraphs>403</Paragraphs>
  <Slides>47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Cambria</vt:lpstr>
      <vt:lpstr>Courier New</vt:lpstr>
      <vt:lpstr>PMingLiU</vt:lpstr>
      <vt:lpstr>Times New Roman</vt:lpstr>
      <vt:lpstr>Wingdings</vt:lpstr>
      <vt:lpstr>Theme2</vt:lpstr>
      <vt:lpstr>Visio</vt:lpstr>
      <vt:lpstr>PowerPoint Presentation</vt:lpstr>
      <vt:lpstr>Администрацията– съвкупност от процеси</vt:lpstr>
      <vt:lpstr>  Администрация: Българска агенция по безопасност на храните  Услуга: Издаване на лиценз за употреба  на ветеринарно-медицински продукти   Отговорна дирекция:  Дирекция Ветеринарно-медицински продукти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Методология за описание и анализ на работните процеси</vt:lpstr>
      <vt:lpstr>PowerPoint Presentation</vt:lpstr>
      <vt:lpstr>PowerPoint Presentation</vt:lpstr>
      <vt:lpstr>PowerPoint Presentation</vt:lpstr>
      <vt:lpstr>ЕТАП 2: Анализ на потребностите на администрацията</vt:lpstr>
      <vt:lpstr>ЕТАП 3: Описание на работните процеси в текущо състояние</vt:lpstr>
      <vt:lpstr>Нива на процесите в организацията</vt:lpstr>
      <vt:lpstr>PowerPoint Presentation</vt:lpstr>
      <vt:lpstr>Подходи за описание на работен процес</vt:lpstr>
      <vt:lpstr>Таблично описание на работен процес</vt:lpstr>
      <vt:lpstr>PowerPoint Presentation</vt:lpstr>
      <vt:lpstr>PowerPoint Presentation</vt:lpstr>
      <vt:lpstr>PowerPoint Presentation</vt:lpstr>
      <vt:lpstr>Нотация тип „диаграма на добавена стойност“</vt:lpstr>
      <vt:lpstr>Пример</vt:lpstr>
      <vt:lpstr>Нотация ЕРС  (Event-driven Process Chain)</vt:lpstr>
      <vt:lpstr>Пример</vt:lpstr>
      <vt:lpstr>PowerPoint Presentation</vt:lpstr>
      <vt:lpstr>ЕТАП 4: Анализ и подобряване на работните процеси</vt:lpstr>
      <vt:lpstr>Основни стъпки за анализ и подобряване на процесите (1)</vt:lpstr>
      <vt:lpstr>Критерии за избор на процеси за анализ</vt:lpstr>
      <vt:lpstr>Детайлизирани изисквания</vt:lpstr>
      <vt:lpstr>Основни стъпки за анализ и подобряване на процесите (2)</vt:lpstr>
      <vt:lpstr>Основни стъпки за анализ и подобряване на процесите (3)</vt:lpstr>
      <vt:lpstr>Причинно-следствена диаграма (Диаграма на Ишикава)</vt:lpstr>
      <vt:lpstr>Дърво на причинно-следствени връзки</vt:lpstr>
      <vt:lpstr>Основни стъпки за анализ и подобряване на процесите (4)</vt:lpstr>
      <vt:lpstr>PowerPoint Presentation</vt:lpstr>
      <vt:lpstr>ЕТАП 5: Проектиране на процесите в бъдещо състояние и внедряване</vt:lpstr>
      <vt:lpstr>Основни стъпки за внедряване на работните процеси</vt:lpstr>
      <vt:lpstr>Основни стъпки за внедряване на работните процеси (1)</vt:lpstr>
      <vt:lpstr>Основни стъпки за внедряване на работните процеси (2)</vt:lpstr>
      <vt:lpstr>Основни стъпки за внедряване на работните процеси (3)</vt:lpstr>
      <vt:lpstr>Основни стъпки за внедряване на работните процеси (4)</vt:lpstr>
      <vt:lpstr>Основни стъпки за внедряване на работните процеси (5)</vt:lpstr>
      <vt:lpstr>ЕТАП 6: Мониторинг и контрол на работните процеси</vt:lpstr>
    </vt:vector>
  </TitlesOfParts>
  <Company>&lt;arabianhorse&gt;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„Укрепване на капацитета на специализираната администрация на министъра на правосъдието за изпълнение на правомощията му по Закона за съдебната власт, на държавните съдебни изпълнители и на съдиите по вписванията”, осъществяван с финансовата подкрепа на Оперативна програма “Административен капацитет”, съфинансирана от Европейския съюз чрез Европейския социален фонд</dc:title>
  <dc:creator>.</dc:creator>
  <cp:lastModifiedBy>Microsoft Office User</cp:lastModifiedBy>
  <cp:revision>362</cp:revision>
  <cp:lastPrinted>2013-06-05T15:09:36Z</cp:lastPrinted>
  <dcterms:created xsi:type="dcterms:W3CDTF">2010-02-21T15:33:44Z</dcterms:created>
  <dcterms:modified xsi:type="dcterms:W3CDTF">2017-09-12T13:16:32Z</dcterms:modified>
</cp:coreProperties>
</file>